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Fraunces Light" charset="1" panose="00000000000000000000"/>
      <p:regular r:id="rId20"/>
    </p:embeddedFont>
    <p:embeddedFont>
      <p:font typeface="Fraunces Light Italics" charset="1" panose="00000000000000000000"/>
      <p:regular r:id="rId21"/>
    </p:embeddedFont>
    <p:embeddedFont>
      <p:font typeface="Public Sans Medium" charset="1" panose="00000000000000000000"/>
      <p:regular r:id="rId22"/>
    </p:embeddedFont>
    <p:embeddedFont>
      <p:font typeface="Lovelo" charset="1" panose="02000000000000000000"/>
      <p:regular r:id="rId23"/>
    </p:embeddedFont>
    <p:embeddedFont>
      <p:font typeface="Public Sans" charset="1" panose="00000000000000000000"/>
      <p:regular r:id="rId24"/>
    </p:embeddedFont>
    <p:embeddedFont>
      <p:font typeface="Public Sans Bold"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AutoShape 2" id="2"/>
          <p:cNvSpPr/>
          <p:nvPr/>
        </p:nvSpPr>
        <p:spPr>
          <a:xfrm>
            <a:off x="1787248" y="7259322"/>
            <a:ext cx="7779810" cy="0"/>
          </a:xfrm>
          <a:prstGeom prst="line">
            <a:avLst/>
          </a:prstGeom>
          <a:ln cap="flat" w="9525">
            <a:solidFill>
              <a:srgbClr val="36211B"/>
            </a:solidFill>
            <a:prstDash val="solid"/>
            <a:headEnd type="none" len="sm" w="sm"/>
            <a:tailEnd type="none" len="sm" w="sm"/>
          </a:ln>
        </p:spPr>
      </p:sp>
      <p:sp>
        <p:nvSpPr>
          <p:cNvPr name="TextBox 3" id="3"/>
          <p:cNvSpPr txBox="true"/>
          <p:nvPr/>
        </p:nvSpPr>
        <p:spPr>
          <a:xfrm rot="0">
            <a:off x="3662490" y="2935853"/>
            <a:ext cx="10963021" cy="2206647"/>
          </a:xfrm>
          <a:prstGeom prst="rect">
            <a:avLst/>
          </a:prstGeom>
        </p:spPr>
        <p:txBody>
          <a:bodyPr anchor="t" rtlCol="false" tIns="0" lIns="0" bIns="0" rIns="0">
            <a:spAutoFit/>
          </a:bodyPr>
          <a:lstStyle/>
          <a:p>
            <a:pPr algn="ctr">
              <a:lnSpc>
                <a:spcPts val="8500"/>
              </a:lnSpc>
            </a:pPr>
            <a:r>
              <a:rPr lang="en-US" sz="8500" spc="-340">
                <a:solidFill>
                  <a:srgbClr val="36211B"/>
                </a:solidFill>
                <a:latin typeface="Fraunces Light"/>
                <a:ea typeface="Fraunces Light"/>
                <a:cs typeface="Fraunces Light"/>
                <a:sym typeface="Fraunces Light"/>
              </a:rPr>
              <a:t>GOOGLE FILE SYSTEM</a:t>
            </a:r>
          </a:p>
        </p:txBody>
      </p:sp>
      <p:sp>
        <p:nvSpPr>
          <p:cNvPr name="TextBox 4" id="4"/>
          <p:cNvSpPr txBox="true"/>
          <p:nvPr/>
        </p:nvSpPr>
        <p:spPr>
          <a:xfrm rot="0">
            <a:off x="3662490" y="5135411"/>
            <a:ext cx="10963021" cy="762001"/>
          </a:xfrm>
          <a:prstGeom prst="rect">
            <a:avLst/>
          </a:prstGeom>
        </p:spPr>
        <p:txBody>
          <a:bodyPr anchor="t" rtlCol="false" tIns="0" lIns="0" bIns="0" rIns="0">
            <a:spAutoFit/>
          </a:bodyPr>
          <a:lstStyle/>
          <a:p>
            <a:pPr algn="ctr">
              <a:lnSpc>
                <a:spcPts val="6299"/>
              </a:lnSpc>
            </a:pPr>
            <a:r>
              <a:rPr lang="en-US" sz="4499" i="true" spc="-179">
                <a:solidFill>
                  <a:srgbClr val="36211B"/>
                </a:solidFill>
                <a:latin typeface="Fraunces Light Italics"/>
                <a:ea typeface="Fraunces Light Italics"/>
                <a:cs typeface="Fraunces Light Italics"/>
                <a:sym typeface="Fraunces Light Italics"/>
              </a:rPr>
              <a:t>With Multiple Master Nodes</a:t>
            </a:r>
          </a:p>
        </p:txBody>
      </p:sp>
      <p:sp>
        <p:nvSpPr>
          <p:cNvPr name="Freeform 5" id="5"/>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6" id="6"/>
          <p:cNvSpPr txBox="true"/>
          <p:nvPr/>
        </p:nvSpPr>
        <p:spPr>
          <a:xfrm rot="0">
            <a:off x="1663865" y="7678710"/>
            <a:ext cx="7292359" cy="613410"/>
          </a:xfrm>
          <a:prstGeom prst="rect">
            <a:avLst/>
          </a:prstGeom>
        </p:spPr>
        <p:txBody>
          <a:bodyPr anchor="t" rtlCol="false" tIns="0" lIns="0" bIns="0" rIns="0">
            <a:spAutoFit/>
          </a:bodyPr>
          <a:lstStyle/>
          <a:p>
            <a:pPr algn="l">
              <a:lnSpc>
                <a:spcPts val="5040"/>
              </a:lnSpc>
            </a:pPr>
            <a:r>
              <a:rPr lang="en-US" sz="3600" i="true" spc="-144">
                <a:solidFill>
                  <a:srgbClr val="36211B"/>
                </a:solidFill>
                <a:latin typeface="Fraunces Light Italics"/>
                <a:ea typeface="Fraunces Light Italics"/>
                <a:cs typeface="Fraunces Light Italics"/>
                <a:sym typeface="Fraunces Light Italics"/>
              </a:rPr>
              <a:t>Meghana Chitturi -2021101006</a:t>
            </a:r>
          </a:p>
        </p:txBody>
      </p:sp>
      <p:sp>
        <p:nvSpPr>
          <p:cNvPr name="TextBox 7" id="7"/>
          <p:cNvSpPr txBox="true"/>
          <p:nvPr/>
        </p:nvSpPr>
        <p:spPr>
          <a:xfrm rot="0">
            <a:off x="1663865" y="8247388"/>
            <a:ext cx="6999323" cy="613410"/>
          </a:xfrm>
          <a:prstGeom prst="rect">
            <a:avLst/>
          </a:prstGeom>
        </p:spPr>
        <p:txBody>
          <a:bodyPr anchor="t" rtlCol="false" tIns="0" lIns="0" bIns="0" rIns="0">
            <a:spAutoFit/>
          </a:bodyPr>
          <a:lstStyle/>
          <a:p>
            <a:pPr algn="l">
              <a:lnSpc>
                <a:spcPts val="5040"/>
              </a:lnSpc>
            </a:pPr>
            <a:r>
              <a:rPr lang="en-US" sz="3600" i="true" spc="-144">
                <a:solidFill>
                  <a:srgbClr val="36211B"/>
                </a:solidFill>
                <a:latin typeface="Fraunces Light Italics"/>
                <a:ea typeface="Fraunces Light Italics"/>
                <a:cs typeface="Fraunces Light Italics"/>
                <a:sym typeface="Fraunces Light Italics"/>
              </a:rPr>
              <a:t>Tirumareddy  Abhishek - 2021102010</a:t>
            </a:r>
          </a:p>
        </p:txBody>
      </p:sp>
      <p:sp>
        <p:nvSpPr>
          <p:cNvPr name="TextBox 8" id="8"/>
          <p:cNvSpPr txBox="true"/>
          <p:nvPr/>
        </p:nvSpPr>
        <p:spPr>
          <a:xfrm rot="0">
            <a:off x="1114880" y="767715"/>
            <a:ext cx="2547610" cy="464820"/>
          </a:xfrm>
          <a:prstGeom prst="rect">
            <a:avLst/>
          </a:prstGeom>
        </p:spPr>
        <p:txBody>
          <a:bodyPr anchor="t" rtlCol="false" tIns="0" lIns="0" bIns="0" rIns="0">
            <a:spAutoFit/>
          </a:bodyPr>
          <a:lstStyle/>
          <a:p>
            <a:pPr algn="l">
              <a:lnSpc>
                <a:spcPts val="3779"/>
              </a:lnSpc>
            </a:pPr>
            <a:r>
              <a:rPr lang="en-US" sz="2699" spc="-53" b="true">
                <a:solidFill>
                  <a:srgbClr val="36211B"/>
                </a:solidFill>
                <a:latin typeface="Public Sans Medium"/>
                <a:ea typeface="Public Sans Medium"/>
                <a:cs typeface="Public Sans Medium"/>
                <a:sym typeface="Public Sans Medium"/>
              </a:rPr>
              <a:t>DS PROJECT</a:t>
            </a:r>
          </a:p>
        </p:txBody>
      </p:sp>
      <p:sp>
        <p:nvSpPr>
          <p:cNvPr name="TextBox 9" id="9"/>
          <p:cNvSpPr txBox="true"/>
          <p:nvPr/>
        </p:nvSpPr>
        <p:spPr>
          <a:xfrm rot="0">
            <a:off x="13863428" y="767715"/>
            <a:ext cx="3750600" cy="464820"/>
          </a:xfrm>
          <a:prstGeom prst="rect">
            <a:avLst/>
          </a:prstGeom>
        </p:spPr>
        <p:txBody>
          <a:bodyPr anchor="t" rtlCol="false" tIns="0" lIns="0" bIns="0" rIns="0">
            <a:spAutoFit/>
          </a:bodyPr>
          <a:lstStyle/>
          <a:p>
            <a:pPr algn="l">
              <a:lnSpc>
                <a:spcPts val="3779"/>
              </a:lnSpc>
            </a:pPr>
            <a:r>
              <a:rPr lang="en-US" sz="2699" spc="-53" b="true">
                <a:solidFill>
                  <a:srgbClr val="36211B"/>
                </a:solidFill>
                <a:latin typeface="Public Sans Medium"/>
                <a:ea typeface="Public Sans Medium"/>
                <a:cs typeface="Public Sans Medium"/>
                <a:sym typeface="Public Sans Medium"/>
              </a:rPr>
              <a:t>28th Novemeber,2024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TextBox 2" id="2"/>
          <p:cNvSpPr txBox="true"/>
          <p:nvPr/>
        </p:nvSpPr>
        <p:spPr>
          <a:xfrm rot="0">
            <a:off x="1028700" y="885825"/>
            <a:ext cx="14746745" cy="1113790"/>
          </a:xfrm>
          <a:prstGeom prst="rect">
            <a:avLst/>
          </a:prstGeom>
        </p:spPr>
        <p:txBody>
          <a:bodyPr anchor="t" rtlCol="false" tIns="0" lIns="0" bIns="0" rIns="0">
            <a:spAutoFit/>
          </a:bodyPr>
          <a:lstStyle/>
          <a:p>
            <a:pPr algn="l">
              <a:lnSpc>
                <a:spcPts val="8959"/>
              </a:lnSpc>
            </a:pPr>
            <a:r>
              <a:rPr lang="en-US" sz="6399" spc="-255">
                <a:solidFill>
                  <a:srgbClr val="36211B"/>
                </a:solidFill>
                <a:latin typeface="Lovelo"/>
                <a:ea typeface="Lovelo"/>
                <a:cs typeface="Lovelo"/>
                <a:sym typeface="Lovelo"/>
              </a:rPr>
              <a:t>Background</a:t>
            </a:r>
          </a:p>
        </p:txBody>
      </p:sp>
      <p:sp>
        <p:nvSpPr>
          <p:cNvPr name="Freeform 3" id="3"/>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4" id="4"/>
          <p:cNvSpPr txBox="true"/>
          <p:nvPr/>
        </p:nvSpPr>
        <p:spPr>
          <a:xfrm rot="0">
            <a:off x="1028700" y="2707996"/>
            <a:ext cx="15734262" cy="6361049"/>
          </a:xfrm>
          <a:prstGeom prst="rect">
            <a:avLst/>
          </a:prstGeom>
        </p:spPr>
        <p:txBody>
          <a:bodyPr anchor="t" rtlCol="false" tIns="0" lIns="0" bIns="0" rIns="0">
            <a:spAutoFit/>
          </a:bodyPr>
          <a:lstStyle/>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What is a Distributed File System?</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A system that manages storage across multiple servers, ensuring fault tolerance, scalability, and data consistency.</a:t>
            </a:r>
          </a:p>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Challenges in Distributed Systems:</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Maintaining consistency across servers.</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Handling failures in a fault-tolerant manner.</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Efficient data storage and retrieval.</a:t>
            </a:r>
          </a:p>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Motivation for the Project:</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Implement a GFS-like system with multimaster coordination.</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Real-world applicability in cloud storage and distributed computing.</a:t>
            </a:r>
          </a:p>
          <a:p>
            <a:pPr algn="l">
              <a:lnSpc>
                <a:spcPts val="464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3" id="3"/>
          <p:cNvSpPr txBox="true"/>
          <p:nvPr/>
        </p:nvSpPr>
        <p:spPr>
          <a:xfrm rot="0">
            <a:off x="1028700" y="2460784"/>
            <a:ext cx="16230600" cy="4406899"/>
          </a:xfrm>
          <a:prstGeom prst="rect">
            <a:avLst/>
          </a:prstGeom>
        </p:spPr>
        <p:txBody>
          <a:bodyPr anchor="t" rtlCol="false" tIns="0" lIns="0" bIns="0" rIns="0">
            <a:spAutoFit/>
          </a:bodyPr>
          <a:lstStyle/>
          <a:p>
            <a:pPr algn="l">
              <a:lnSpc>
                <a:spcPts val="7000"/>
              </a:lnSpc>
            </a:pPr>
            <a:r>
              <a:rPr lang="en-US" sz="5000" i="true" spc="-200">
                <a:solidFill>
                  <a:srgbClr val="36211B"/>
                </a:solidFill>
                <a:latin typeface="Fraunces Light Italics"/>
                <a:ea typeface="Fraunces Light Italics"/>
                <a:cs typeface="Fraunces Light Italics"/>
                <a:sym typeface="Fraunces Light Italics"/>
              </a:rPr>
              <a:t>"Google File System (GFS) is a distributed file system designed to provide efficient, reliable access to large datasets across clusters of commodity hardware, allowing Google to store and process massive amounts of data for its various services, even when dealing with hardware failures."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TextBox 2" id="2"/>
          <p:cNvSpPr txBox="true"/>
          <p:nvPr/>
        </p:nvSpPr>
        <p:spPr>
          <a:xfrm rot="0">
            <a:off x="1028700" y="885825"/>
            <a:ext cx="14746745" cy="1113790"/>
          </a:xfrm>
          <a:prstGeom prst="rect">
            <a:avLst/>
          </a:prstGeom>
        </p:spPr>
        <p:txBody>
          <a:bodyPr anchor="t" rtlCol="false" tIns="0" lIns="0" bIns="0" rIns="0">
            <a:spAutoFit/>
          </a:bodyPr>
          <a:lstStyle/>
          <a:p>
            <a:pPr algn="l">
              <a:lnSpc>
                <a:spcPts val="8959"/>
              </a:lnSpc>
            </a:pPr>
            <a:r>
              <a:rPr lang="en-US" sz="6399" spc="-255">
                <a:solidFill>
                  <a:srgbClr val="36211B"/>
                </a:solidFill>
                <a:latin typeface="Lovelo"/>
                <a:ea typeface="Lovelo"/>
                <a:cs typeface="Lovelo"/>
                <a:sym typeface="Lovelo"/>
              </a:rPr>
              <a:t>PrOJECT DESCRIPTION</a:t>
            </a:r>
          </a:p>
        </p:txBody>
      </p:sp>
      <p:sp>
        <p:nvSpPr>
          <p:cNvPr name="Freeform 3" id="3"/>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4" id="4"/>
          <p:cNvSpPr txBox="true"/>
          <p:nvPr/>
        </p:nvSpPr>
        <p:spPr>
          <a:xfrm rot="0">
            <a:off x="1028700" y="2707996"/>
            <a:ext cx="15734262" cy="6361049"/>
          </a:xfrm>
          <a:prstGeom prst="rect">
            <a:avLst/>
          </a:prstGeom>
        </p:spPr>
        <p:txBody>
          <a:bodyPr anchor="t" rtlCol="false" tIns="0" lIns="0" bIns="0" rIns="0">
            <a:spAutoFit/>
          </a:bodyPr>
          <a:lstStyle/>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Objective of the Project:</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Build a scalable and fault-tolerant distributed file system that provides:</a:t>
            </a:r>
          </a:p>
          <a:p>
            <a:pPr algn="l" marL="1813558" indent="-453390" lvl="3">
              <a:lnSpc>
                <a:spcPts val="4647"/>
              </a:lnSpc>
              <a:buFont typeface="Arial"/>
              <a:buChar char="￭"/>
            </a:pPr>
            <a:r>
              <a:rPr lang="en-US" sz="2799" spc="-55">
                <a:solidFill>
                  <a:srgbClr val="36211B"/>
                </a:solidFill>
                <a:latin typeface="Public Sans"/>
                <a:ea typeface="Public Sans"/>
                <a:cs typeface="Public Sans"/>
                <a:sym typeface="Public Sans"/>
              </a:rPr>
              <a:t>File uploads, downloads, and lease management.</a:t>
            </a:r>
          </a:p>
          <a:p>
            <a:pPr algn="l" marL="1813558" indent="-453390" lvl="3">
              <a:lnSpc>
                <a:spcPts val="4647"/>
              </a:lnSpc>
              <a:buFont typeface="Arial"/>
              <a:buChar char="￭"/>
            </a:pPr>
            <a:r>
              <a:rPr lang="en-US" sz="2799" spc="-55">
                <a:solidFill>
                  <a:srgbClr val="36211B"/>
                </a:solidFill>
                <a:latin typeface="Public Sans"/>
                <a:ea typeface="Public Sans"/>
                <a:cs typeface="Public Sans"/>
                <a:sym typeface="Public Sans"/>
              </a:rPr>
              <a:t>Strong consistency using Raft consensus.</a:t>
            </a:r>
          </a:p>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High-Level Architecture:</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Backend: Master Server, Chunk Server, and WebSocket Server.</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Frontend: React-based UI for user interaction.</a:t>
            </a:r>
          </a:p>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Key Features:</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Multimaster architecture for high availability.</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Chunk-based storage with replication for fault tolerance.</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Leases for exclusive file access to avoid conflicts.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TextBox 2" id="2"/>
          <p:cNvSpPr txBox="true"/>
          <p:nvPr/>
        </p:nvSpPr>
        <p:spPr>
          <a:xfrm rot="0">
            <a:off x="1028700" y="885825"/>
            <a:ext cx="14746745" cy="1113790"/>
          </a:xfrm>
          <a:prstGeom prst="rect">
            <a:avLst/>
          </a:prstGeom>
        </p:spPr>
        <p:txBody>
          <a:bodyPr anchor="t" rtlCol="false" tIns="0" lIns="0" bIns="0" rIns="0">
            <a:spAutoFit/>
          </a:bodyPr>
          <a:lstStyle/>
          <a:p>
            <a:pPr algn="l">
              <a:lnSpc>
                <a:spcPts val="8959"/>
              </a:lnSpc>
            </a:pPr>
            <a:r>
              <a:rPr lang="en-US" sz="6399" spc="-255">
                <a:solidFill>
                  <a:srgbClr val="36211B"/>
                </a:solidFill>
                <a:latin typeface="Lovelo"/>
                <a:ea typeface="Lovelo"/>
                <a:cs typeface="Lovelo"/>
                <a:sym typeface="Lovelo"/>
              </a:rPr>
              <a:t>solution approach</a:t>
            </a:r>
          </a:p>
        </p:txBody>
      </p:sp>
      <p:sp>
        <p:nvSpPr>
          <p:cNvPr name="TextBox 3" id="3"/>
          <p:cNvSpPr txBox="true"/>
          <p:nvPr/>
        </p:nvSpPr>
        <p:spPr>
          <a:xfrm rot="0">
            <a:off x="1028700" y="2830508"/>
            <a:ext cx="15734262" cy="6678001"/>
          </a:xfrm>
          <a:prstGeom prst="rect">
            <a:avLst/>
          </a:prstGeom>
        </p:spPr>
        <p:txBody>
          <a:bodyPr anchor="t" rtlCol="false" tIns="0" lIns="0" bIns="0" rIns="0">
            <a:spAutoFit/>
          </a:bodyPr>
          <a:lstStyle/>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Backend Design:</a:t>
            </a:r>
          </a:p>
          <a:p>
            <a:pPr algn="l" marL="1158078" indent="-386026" lvl="2">
              <a:lnSpc>
                <a:spcPts val="4452"/>
              </a:lnSpc>
              <a:buFont typeface="Arial"/>
              <a:buChar char="⚬"/>
            </a:pPr>
            <a:r>
              <a:rPr lang="en-US" sz="2681" spc="-53">
                <a:solidFill>
                  <a:srgbClr val="36211B"/>
                </a:solidFill>
                <a:latin typeface="Public Sans"/>
                <a:ea typeface="Public Sans"/>
                <a:cs typeface="Public Sans"/>
                <a:sym typeface="Public Sans"/>
              </a:rPr>
              <a:t>Multiple master nodes with Raft consensus.</a:t>
            </a:r>
          </a:p>
          <a:p>
            <a:pPr algn="l" marL="1158078" indent="-386026" lvl="2">
              <a:lnSpc>
                <a:spcPts val="4452"/>
              </a:lnSpc>
              <a:buFont typeface="Arial"/>
              <a:buChar char="⚬"/>
            </a:pPr>
            <a:r>
              <a:rPr lang="en-US" sz="2681" spc="-53">
                <a:solidFill>
                  <a:srgbClr val="36211B"/>
                </a:solidFill>
                <a:latin typeface="Public Sans"/>
                <a:ea typeface="Public Sans"/>
                <a:cs typeface="Public Sans"/>
                <a:sym typeface="Public Sans"/>
              </a:rPr>
              <a:t>Chunk servers store data with redundancy.</a:t>
            </a:r>
          </a:p>
          <a:p>
            <a:pPr algn="l" marL="1158078" indent="-386026" lvl="2">
              <a:lnSpc>
                <a:spcPts val="4452"/>
              </a:lnSpc>
              <a:buFont typeface="Arial"/>
              <a:buChar char="⚬"/>
            </a:pPr>
            <a:r>
              <a:rPr lang="en-US" sz="2681" spc="-53">
                <a:solidFill>
                  <a:srgbClr val="36211B"/>
                </a:solidFill>
                <a:latin typeface="Public Sans"/>
                <a:ea typeface="Public Sans"/>
                <a:cs typeface="Public Sans"/>
                <a:sym typeface="Public Sans"/>
              </a:rPr>
              <a:t>Heartbeats keep track of active servers.</a:t>
            </a:r>
          </a:p>
          <a:p>
            <a:pPr algn="l" marL="1158078" indent="-386026" lvl="2">
              <a:lnSpc>
                <a:spcPts val="4452"/>
              </a:lnSpc>
              <a:buFont typeface="Arial"/>
              <a:buChar char="⚬"/>
            </a:pPr>
            <a:r>
              <a:rPr lang="en-US" sz="2681" spc="-53">
                <a:solidFill>
                  <a:srgbClr val="36211B"/>
                </a:solidFill>
                <a:latin typeface="Public Sans"/>
                <a:ea typeface="Public Sans"/>
                <a:cs typeface="Public Sans"/>
                <a:sym typeface="Public Sans"/>
              </a:rPr>
              <a:t>Checksums validate data integrity.</a:t>
            </a:r>
          </a:p>
          <a:p>
            <a:pPr algn="l" marL="579039" indent="-289519" lvl="1">
              <a:lnSpc>
                <a:spcPts val="4452"/>
              </a:lnSpc>
              <a:buFont typeface="Arial"/>
              <a:buChar char="•"/>
            </a:pPr>
            <a:r>
              <a:rPr lang="en-US" sz="2681" spc="-53">
                <a:solidFill>
                  <a:srgbClr val="36211B"/>
                </a:solidFill>
                <a:latin typeface="Public Sans"/>
                <a:ea typeface="Public Sans"/>
                <a:cs typeface="Public Sans"/>
                <a:sym typeface="Public Sans"/>
              </a:rPr>
              <a:t>Frontend Design:</a:t>
            </a:r>
          </a:p>
          <a:p>
            <a:pPr algn="l" marL="1158078" indent="-386026" lvl="2">
              <a:lnSpc>
                <a:spcPts val="4452"/>
              </a:lnSpc>
              <a:buFont typeface="Arial"/>
              <a:buChar char="⚬"/>
            </a:pPr>
            <a:r>
              <a:rPr lang="en-US" sz="2681" spc="-53">
                <a:solidFill>
                  <a:srgbClr val="36211B"/>
                </a:solidFill>
                <a:latin typeface="Public Sans"/>
                <a:ea typeface="Public Sans"/>
                <a:cs typeface="Public Sans"/>
                <a:sym typeface="Public Sans"/>
              </a:rPr>
              <a:t>Modular React components for user operations.</a:t>
            </a:r>
          </a:p>
          <a:p>
            <a:pPr algn="l" marL="1158078" indent="-386026" lvl="2">
              <a:lnSpc>
                <a:spcPts val="4452"/>
              </a:lnSpc>
              <a:buFont typeface="Arial"/>
              <a:buChar char="⚬"/>
            </a:pPr>
            <a:r>
              <a:rPr lang="en-US" sz="2681" spc="-53">
                <a:solidFill>
                  <a:srgbClr val="36211B"/>
                </a:solidFill>
                <a:latin typeface="Public Sans"/>
                <a:ea typeface="Public Sans"/>
                <a:cs typeface="Public Sans"/>
                <a:sym typeface="Public Sans"/>
              </a:rPr>
              <a:t>Dynamic state management using useGFSOperations.</a:t>
            </a:r>
          </a:p>
          <a:p>
            <a:pPr algn="l" marL="579039" indent="-289519" lvl="1">
              <a:lnSpc>
                <a:spcPts val="4452"/>
              </a:lnSpc>
              <a:buFont typeface="Arial"/>
              <a:buChar char="•"/>
            </a:pPr>
            <a:r>
              <a:rPr lang="en-US" sz="2681" spc="-53">
                <a:solidFill>
                  <a:srgbClr val="36211B"/>
                </a:solidFill>
                <a:latin typeface="Public Sans"/>
                <a:ea typeface="Public Sans"/>
                <a:cs typeface="Public Sans"/>
                <a:sym typeface="Public Sans"/>
              </a:rPr>
              <a:t>Core Functionalities:</a:t>
            </a:r>
          </a:p>
          <a:p>
            <a:pPr algn="l" marL="1158078" indent="-386026" lvl="2">
              <a:lnSpc>
                <a:spcPts val="4452"/>
              </a:lnSpc>
              <a:buFont typeface="Arial"/>
              <a:buChar char="⚬"/>
            </a:pPr>
            <a:r>
              <a:rPr lang="en-US" sz="2681" spc="-53">
                <a:solidFill>
                  <a:srgbClr val="36211B"/>
                </a:solidFill>
                <a:latin typeface="Public Sans"/>
                <a:ea typeface="Public Sans"/>
                <a:cs typeface="Public Sans"/>
                <a:sym typeface="Public Sans"/>
              </a:rPr>
              <a:t>File uploads, downloads, and storage monitoring.</a:t>
            </a:r>
          </a:p>
          <a:p>
            <a:pPr algn="l" marL="1158078" indent="-386026" lvl="2">
              <a:lnSpc>
                <a:spcPts val="4452"/>
              </a:lnSpc>
              <a:buFont typeface="Arial"/>
              <a:buChar char="⚬"/>
            </a:pPr>
            <a:r>
              <a:rPr lang="en-US" sz="2681" spc="-53">
                <a:solidFill>
                  <a:srgbClr val="36211B"/>
                </a:solidFill>
                <a:latin typeface="Public Sans"/>
                <a:ea typeface="Public Sans"/>
                <a:cs typeface="Public Sans"/>
                <a:sym typeface="Public Sans"/>
              </a:rPr>
              <a:t>Leases for write operations to prevent conflicts.</a:t>
            </a:r>
          </a:p>
          <a:p>
            <a:pPr algn="l">
              <a:lnSpc>
                <a:spcPts val="3957"/>
              </a:lnSpc>
            </a:pPr>
          </a:p>
        </p:txBody>
      </p:sp>
      <p:sp>
        <p:nvSpPr>
          <p:cNvPr name="Freeform 4" id="4"/>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3" id="3"/>
          <p:cNvSpPr txBox="true"/>
          <p:nvPr/>
        </p:nvSpPr>
        <p:spPr>
          <a:xfrm rot="0">
            <a:off x="1028700" y="3721266"/>
            <a:ext cx="3474784" cy="537845"/>
          </a:xfrm>
          <a:prstGeom prst="rect">
            <a:avLst/>
          </a:prstGeom>
        </p:spPr>
        <p:txBody>
          <a:bodyPr anchor="t" rtlCol="false" tIns="0" lIns="0" bIns="0" rIns="0">
            <a:spAutoFit/>
          </a:bodyPr>
          <a:lstStyle/>
          <a:p>
            <a:pPr algn="l">
              <a:lnSpc>
                <a:spcPts val="4480"/>
              </a:lnSpc>
            </a:pPr>
            <a:r>
              <a:rPr lang="en-US" sz="3200" spc="-128">
                <a:solidFill>
                  <a:srgbClr val="36211B"/>
                </a:solidFill>
                <a:latin typeface="Fraunces Light"/>
                <a:ea typeface="Fraunces Light"/>
                <a:cs typeface="Fraunces Light"/>
                <a:sym typeface="Fraunces Light"/>
              </a:rPr>
              <a:t>Backend Design</a:t>
            </a:r>
          </a:p>
        </p:txBody>
      </p:sp>
      <p:sp>
        <p:nvSpPr>
          <p:cNvPr name="TextBox 4" id="4"/>
          <p:cNvSpPr txBox="true"/>
          <p:nvPr/>
        </p:nvSpPr>
        <p:spPr>
          <a:xfrm rot="0">
            <a:off x="1028700" y="5021110"/>
            <a:ext cx="5223189" cy="3125470"/>
          </a:xfrm>
          <a:prstGeom prst="rect">
            <a:avLst/>
          </a:prstGeom>
        </p:spPr>
        <p:txBody>
          <a:bodyPr anchor="t" rtlCol="false" tIns="0" lIns="0" bIns="0" rIns="0">
            <a:spAutoFit/>
          </a:bodyPr>
          <a:lstStyle/>
          <a:p>
            <a:pPr algn="l" marL="474979" indent="-237490" lvl="1">
              <a:lnSpc>
                <a:spcPts val="3079"/>
              </a:lnSpc>
              <a:buFont typeface="Arial"/>
              <a:buChar char="•"/>
            </a:pPr>
            <a:r>
              <a:rPr lang="en-US" sz="2199" spc="-43">
                <a:solidFill>
                  <a:srgbClr val="36211B"/>
                </a:solidFill>
                <a:latin typeface="Public Sans"/>
                <a:ea typeface="Public Sans"/>
                <a:cs typeface="Public Sans"/>
                <a:sym typeface="Public Sans"/>
              </a:rPr>
              <a:t>Designed the system with three main components: </a:t>
            </a:r>
          </a:p>
          <a:p>
            <a:pPr algn="l" marL="949959" indent="-316653" lvl="2">
              <a:lnSpc>
                <a:spcPts val="3079"/>
              </a:lnSpc>
              <a:buFont typeface="Arial"/>
              <a:buChar char="⚬"/>
            </a:pPr>
            <a:r>
              <a:rPr lang="en-US" sz="2199" spc="-43">
                <a:solidFill>
                  <a:srgbClr val="36211B"/>
                </a:solidFill>
                <a:latin typeface="Public Sans"/>
                <a:ea typeface="Public Sans"/>
                <a:cs typeface="Public Sans"/>
                <a:sym typeface="Public Sans"/>
              </a:rPr>
              <a:t>Master Server</a:t>
            </a:r>
          </a:p>
          <a:p>
            <a:pPr algn="l" marL="949959" indent="-316653" lvl="2">
              <a:lnSpc>
                <a:spcPts val="3079"/>
              </a:lnSpc>
              <a:buFont typeface="Arial"/>
              <a:buChar char="⚬"/>
            </a:pPr>
            <a:r>
              <a:rPr lang="en-US" sz="2199" spc="-43">
                <a:solidFill>
                  <a:srgbClr val="36211B"/>
                </a:solidFill>
                <a:latin typeface="Public Sans"/>
                <a:ea typeface="Public Sans"/>
                <a:cs typeface="Public Sans"/>
                <a:sym typeface="Public Sans"/>
              </a:rPr>
              <a:t>Chunk Server</a:t>
            </a:r>
          </a:p>
          <a:p>
            <a:pPr algn="l" marL="949959" indent="-316653" lvl="2">
              <a:lnSpc>
                <a:spcPts val="3079"/>
              </a:lnSpc>
              <a:buFont typeface="Arial"/>
              <a:buChar char="⚬"/>
            </a:pPr>
            <a:r>
              <a:rPr lang="en-US" sz="2199" spc="-43">
                <a:solidFill>
                  <a:srgbClr val="36211B"/>
                </a:solidFill>
                <a:latin typeface="Public Sans"/>
                <a:ea typeface="Public Sans"/>
                <a:cs typeface="Public Sans"/>
                <a:sym typeface="Public Sans"/>
              </a:rPr>
              <a:t>Client</a:t>
            </a:r>
          </a:p>
          <a:p>
            <a:pPr algn="l" marL="474979" indent="-237490" lvl="1">
              <a:lnSpc>
                <a:spcPts val="3079"/>
              </a:lnSpc>
              <a:buFont typeface="Arial"/>
              <a:buChar char="•"/>
            </a:pPr>
            <a:r>
              <a:rPr lang="en-US" sz="2199" spc="-43">
                <a:solidFill>
                  <a:srgbClr val="36211B"/>
                </a:solidFill>
                <a:latin typeface="Public Sans"/>
                <a:ea typeface="Public Sans"/>
                <a:cs typeface="Public Sans"/>
                <a:sym typeface="Public Sans"/>
              </a:rPr>
              <a:t>Selected Python for backend implementation due to its simplicity and rich networking libraries.</a:t>
            </a:r>
          </a:p>
        </p:txBody>
      </p:sp>
      <p:sp>
        <p:nvSpPr>
          <p:cNvPr name="TextBox 5" id="5"/>
          <p:cNvSpPr txBox="true"/>
          <p:nvPr/>
        </p:nvSpPr>
        <p:spPr>
          <a:xfrm rot="0">
            <a:off x="6926445" y="3721266"/>
            <a:ext cx="4477275" cy="537845"/>
          </a:xfrm>
          <a:prstGeom prst="rect">
            <a:avLst/>
          </a:prstGeom>
        </p:spPr>
        <p:txBody>
          <a:bodyPr anchor="t" rtlCol="false" tIns="0" lIns="0" bIns="0" rIns="0">
            <a:spAutoFit/>
          </a:bodyPr>
          <a:lstStyle/>
          <a:p>
            <a:pPr algn="l">
              <a:lnSpc>
                <a:spcPts val="4480"/>
              </a:lnSpc>
            </a:pPr>
            <a:r>
              <a:rPr lang="en-US" sz="3200" spc="-128">
                <a:solidFill>
                  <a:srgbClr val="36211B"/>
                </a:solidFill>
                <a:latin typeface="Fraunces Light"/>
                <a:ea typeface="Fraunces Light"/>
                <a:cs typeface="Fraunces Light"/>
                <a:sym typeface="Fraunces Light"/>
              </a:rPr>
              <a:t>Frontend Integration</a:t>
            </a:r>
          </a:p>
        </p:txBody>
      </p:sp>
      <p:sp>
        <p:nvSpPr>
          <p:cNvPr name="TextBox 6" id="6"/>
          <p:cNvSpPr txBox="true"/>
          <p:nvPr/>
        </p:nvSpPr>
        <p:spPr>
          <a:xfrm rot="0">
            <a:off x="6926445" y="5021110"/>
            <a:ext cx="4862849" cy="3906520"/>
          </a:xfrm>
          <a:prstGeom prst="rect">
            <a:avLst/>
          </a:prstGeom>
        </p:spPr>
        <p:txBody>
          <a:bodyPr anchor="t" rtlCol="false" tIns="0" lIns="0" bIns="0" rIns="0">
            <a:spAutoFit/>
          </a:bodyPr>
          <a:lstStyle/>
          <a:p>
            <a:pPr algn="l" marL="474981" indent="-237491" lvl="1">
              <a:lnSpc>
                <a:spcPts val="3080"/>
              </a:lnSpc>
              <a:buFont typeface="Arial"/>
              <a:buChar char="•"/>
            </a:pPr>
            <a:r>
              <a:rPr lang="en-US" sz="2200" spc="-44">
                <a:solidFill>
                  <a:srgbClr val="36211B"/>
                </a:solidFill>
                <a:latin typeface="Public Sans"/>
                <a:ea typeface="Public Sans"/>
                <a:cs typeface="Public Sans"/>
                <a:sym typeface="Public Sans"/>
              </a:rPr>
              <a:t>Built the frontend using React and Vite for a responsive and efficient design.</a:t>
            </a:r>
          </a:p>
          <a:p>
            <a:pPr algn="l" marL="474981" indent="-237491" lvl="1">
              <a:lnSpc>
                <a:spcPts val="3080"/>
              </a:lnSpc>
              <a:buFont typeface="Arial"/>
              <a:buChar char="•"/>
            </a:pPr>
            <a:r>
              <a:rPr lang="en-US" sz="2200" spc="-44">
                <a:solidFill>
                  <a:srgbClr val="36211B"/>
                </a:solidFill>
                <a:latin typeface="Public Sans"/>
                <a:ea typeface="Public Sans"/>
                <a:cs typeface="Public Sans"/>
                <a:sym typeface="Public Sans"/>
              </a:rPr>
              <a:t>Created reusable components such as modals for upload/download, file listing, and lease management.</a:t>
            </a:r>
          </a:p>
          <a:p>
            <a:pPr algn="l" marL="474981" indent="-237491" lvl="1">
              <a:lnSpc>
                <a:spcPts val="3080"/>
              </a:lnSpc>
              <a:buFont typeface="Arial"/>
              <a:buChar char="•"/>
            </a:pPr>
            <a:r>
              <a:rPr lang="en-US" sz="2200" spc="-44">
                <a:solidFill>
                  <a:srgbClr val="36211B"/>
                </a:solidFill>
                <a:latin typeface="Public Sans"/>
                <a:ea typeface="Public Sans"/>
                <a:cs typeface="Public Sans"/>
                <a:sym typeface="Public Sans"/>
              </a:rPr>
              <a:t>Integrated the frontend with the backend via a WebSocket Server offering RESTful APIs.</a:t>
            </a:r>
          </a:p>
        </p:txBody>
      </p:sp>
      <p:sp>
        <p:nvSpPr>
          <p:cNvPr name="TextBox 7" id="7"/>
          <p:cNvSpPr txBox="true"/>
          <p:nvPr/>
        </p:nvSpPr>
        <p:spPr>
          <a:xfrm rot="0">
            <a:off x="12596949" y="3440278"/>
            <a:ext cx="4477275" cy="1099820"/>
          </a:xfrm>
          <a:prstGeom prst="rect">
            <a:avLst/>
          </a:prstGeom>
        </p:spPr>
        <p:txBody>
          <a:bodyPr anchor="t" rtlCol="false" tIns="0" lIns="0" bIns="0" rIns="0">
            <a:spAutoFit/>
          </a:bodyPr>
          <a:lstStyle/>
          <a:p>
            <a:pPr algn="l">
              <a:lnSpc>
                <a:spcPts val="4480"/>
              </a:lnSpc>
            </a:pPr>
            <a:r>
              <a:rPr lang="en-US" sz="3200" spc="-128">
                <a:solidFill>
                  <a:srgbClr val="36211B"/>
                </a:solidFill>
                <a:latin typeface="Fraunces Light"/>
                <a:ea typeface="Fraunces Light"/>
                <a:cs typeface="Fraunces Light"/>
                <a:sym typeface="Fraunces Light"/>
              </a:rPr>
              <a:t>Consensus Algorithm Implementation</a:t>
            </a:r>
          </a:p>
        </p:txBody>
      </p:sp>
      <p:sp>
        <p:nvSpPr>
          <p:cNvPr name="TextBox 8" id="8"/>
          <p:cNvSpPr txBox="true"/>
          <p:nvPr/>
        </p:nvSpPr>
        <p:spPr>
          <a:xfrm rot="0">
            <a:off x="12596949" y="5086350"/>
            <a:ext cx="4477275" cy="3125471"/>
          </a:xfrm>
          <a:prstGeom prst="rect">
            <a:avLst/>
          </a:prstGeom>
        </p:spPr>
        <p:txBody>
          <a:bodyPr anchor="t" rtlCol="false" tIns="0" lIns="0" bIns="0" rIns="0">
            <a:spAutoFit/>
          </a:bodyPr>
          <a:lstStyle/>
          <a:p>
            <a:pPr algn="l" marL="474975" indent="-237487" lvl="1">
              <a:lnSpc>
                <a:spcPts val="3079"/>
              </a:lnSpc>
              <a:buFont typeface="Arial"/>
              <a:buChar char="•"/>
            </a:pPr>
            <a:r>
              <a:rPr lang="en-US" sz="2199" spc="-43">
                <a:solidFill>
                  <a:srgbClr val="36211B"/>
                </a:solidFill>
                <a:latin typeface="Public Sans"/>
                <a:ea typeface="Public Sans"/>
                <a:cs typeface="Public Sans"/>
                <a:sym typeface="Public Sans"/>
              </a:rPr>
              <a:t>Developed key functionalities for Raft:</a:t>
            </a:r>
          </a:p>
          <a:p>
            <a:pPr algn="l" marL="949949" indent="-316650" lvl="2">
              <a:lnSpc>
                <a:spcPts val="3079"/>
              </a:lnSpc>
              <a:buFont typeface="Arial"/>
              <a:buChar char="⚬"/>
            </a:pPr>
            <a:r>
              <a:rPr lang="en-US" sz="2199" spc="-43">
                <a:solidFill>
                  <a:srgbClr val="36211B"/>
                </a:solidFill>
                <a:latin typeface="Public Sans"/>
                <a:ea typeface="Public Sans"/>
                <a:cs typeface="Public Sans"/>
                <a:sym typeface="Public Sans"/>
              </a:rPr>
              <a:t>Leader Election</a:t>
            </a:r>
          </a:p>
          <a:p>
            <a:pPr algn="l" marL="949949" indent="-316650" lvl="2">
              <a:lnSpc>
                <a:spcPts val="3079"/>
              </a:lnSpc>
              <a:buFont typeface="Arial"/>
              <a:buChar char="⚬"/>
            </a:pPr>
            <a:r>
              <a:rPr lang="en-US" sz="2199" spc="-43">
                <a:solidFill>
                  <a:srgbClr val="36211B"/>
                </a:solidFill>
                <a:latin typeface="Public Sans"/>
                <a:ea typeface="Public Sans"/>
                <a:cs typeface="Public Sans"/>
                <a:sym typeface="Public Sans"/>
              </a:rPr>
              <a:t>Log Replication</a:t>
            </a:r>
          </a:p>
          <a:p>
            <a:pPr algn="l" marL="949949" indent="-316650" lvl="2">
              <a:lnSpc>
                <a:spcPts val="3079"/>
              </a:lnSpc>
              <a:buFont typeface="Arial"/>
              <a:buChar char="⚬"/>
            </a:pPr>
            <a:r>
              <a:rPr lang="en-US" sz="2199" spc="-43">
                <a:solidFill>
                  <a:srgbClr val="36211B"/>
                </a:solidFill>
                <a:latin typeface="Public Sans"/>
                <a:ea typeface="Public Sans"/>
                <a:cs typeface="Public Sans"/>
                <a:sym typeface="Public Sans"/>
              </a:rPr>
              <a:t>Heartbeat Mechanism</a:t>
            </a:r>
          </a:p>
          <a:p>
            <a:pPr algn="l" marL="474975" indent="-237487" lvl="1">
              <a:lnSpc>
                <a:spcPts val="3079"/>
              </a:lnSpc>
              <a:buFont typeface="Arial"/>
              <a:buChar char="•"/>
            </a:pPr>
            <a:r>
              <a:rPr lang="en-US" sz="2199" spc="-43">
                <a:solidFill>
                  <a:srgbClr val="36211B"/>
                </a:solidFill>
                <a:latin typeface="Public Sans"/>
                <a:ea typeface="Public Sans"/>
                <a:cs typeface="Public Sans"/>
                <a:sym typeface="Public Sans"/>
              </a:rPr>
              <a:t>Simulated server failures to test leader election and log consistency.</a:t>
            </a:r>
          </a:p>
        </p:txBody>
      </p:sp>
      <p:sp>
        <p:nvSpPr>
          <p:cNvPr name="TextBox 9" id="9"/>
          <p:cNvSpPr txBox="true"/>
          <p:nvPr/>
        </p:nvSpPr>
        <p:spPr>
          <a:xfrm rot="0">
            <a:off x="1028700" y="2781622"/>
            <a:ext cx="398364" cy="396240"/>
          </a:xfrm>
          <a:prstGeom prst="rect">
            <a:avLst/>
          </a:prstGeom>
        </p:spPr>
        <p:txBody>
          <a:bodyPr anchor="t" rtlCol="false" tIns="0" lIns="0" bIns="0" rIns="0">
            <a:spAutoFit/>
          </a:bodyPr>
          <a:lstStyle/>
          <a:p>
            <a:pPr algn="l">
              <a:lnSpc>
                <a:spcPts val="3359"/>
              </a:lnSpc>
            </a:pPr>
            <a:r>
              <a:rPr lang="en-US" sz="2400" spc="-96">
                <a:solidFill>
                  <a:srgbClr val="36211B"/>
                </a:solidFill>
                <a:latin typeface="Fraunces Light"/>
                <a:ea typeface="Fraunces Light"/>
                <a:cs typeface="Fraunces Light"/>
                <a:sym typeface="Fraunces Light"/>
              </a:rPr>
              <a:t>1</a:t>
            </a:r>
          </a:p>
        </p:txBody>
      </p:sp>
      <p:sp>
        <p:nvSpPr>
          <p:cNvPr name="TextBox 10" id="10"/>
          <p:cNvSpPr txBox="true"/>
          <p:nvPr/>
        </p:nvSpPr>
        <p:spPr>
          <a:xfrm rot="0">
            <a:off x="6926445" y="2618740"/>
            <a:ext cx="398364" cy="396240"/>
          </a:xfrm>
          <a:prstGeom prst="rect">
            <a:avLst/>
          </a:prstGeom>
        </p:spPr>
        <p:txBody>
          <a:bodyPr anchor="t" rtlCol="false" tIns="0" lIns="0" bIns="0" rIns="0">
            <a:spAutoFit/>
          </a:bodyPr>
          <a:lstStyle/>
          <a:p>
            <a:pPr algn="l">
              <a:lnSpc>
                <a:spcPts val="3359"/>
              </a:lnSpc>
            </a:pPr>
            <a:r>
              <a:rPr lang="en-US" sz="2400" spc="-96">
                <a:solidFill>
                  <a:srgbClr val="36211B"/>
                </a:solidFill>
                <a:latin typeface="Fraunces Light"/>
                <a:ea typeface="Fraunces Light"/>
                <a:cs typeface="Fraunces Light"/>
                <a:sym typeface="Fraunces Light"/>
              </a:rPr>
              <a:t>2</a:t>
            </a:r>
          </a:p>
        </p:txBody>
      </p:sp>
      <p:sp>
        <p:nvSpPr>
          <p:cNvPr name="TextBox 11" id="11"/>
          <p:cNvSpPr txBox="true"/>
          <p:nvPr/>
        </p:nvSpPr>
        <p:spPr>
          <a:xfrm rot="0">
            <a:off x="12820734" y="2602552"/>
            <a:ext cx="398364" cy="396240"/>
          </a:xfrm>
          <a:prstGeom prst="rect">
            <a:avLst/>
          </a:prstGeom>
        </p:spPr>
        <p:txBody>
          <a:bodyPr anchor="t" rtlCol="false" tIns="0" lIns="0" bIns="0" rIns="0">
            <a:spAutoFit/>
          </a:bodyPr>
          <a:lstStyle/>
          <a:p>
            <a:pPr algn="l">
              <a:lnSpc>
                <a:spcPts val="3359"/>
              </a:lnSpc>
            </a:pPr>
            <a:r>
              <a:rPr lang="en-US" sz="2400" spc="-96">
                <a:solidFill>
                  <a:srgbClr val="36211B"/>
                </a:solidFill>
                <a:latin typeface="Fraunces Light"/>
                <a:ea typeface="Fraunces Light"/>
                <a:cs typeface="Fraunces Light"/>
                <a:sym typeface="Fraunces Light"/>
              </a:rPr>
              <a:t>3</a:t>
            </a:r>
          </a:p>
        </p:txBody>
      </p:sp>
      <p:sp>
        <p:nvSpPr>
          <p:cNvPr name="TextBox 12" id="12"/>
          <p:cNvSpPr txBox="true"/>
          <p:nvPr/>
        </p:nvSpPr>
        <p:spPr>
          <a:xfrm rot="0">
            <a:off x="1028700" y="885825"/>
            <a:ext cx="14746745" cy="1113790"/>
          </a:xfrm>
          <a:prstGeom prst="rect">
            <a:avLst/>
          </a:prstGeom>
        </p:spPr>
        <p:txBody>
          <a:bodyPr anchor="t" rtlCol="false" tIns="0" lIns="0" bIns="0" rIns="0">
            <a:spAutoFit/>
          </a:bodyPr>
          <a:lstStyle/>
          <a:p>
            <a:pPr algn="l">
              <a:lnSpc>
                <a:spcPts val="8959"/>
              </a:lnSpc>
            </a:pPr>
            <a:r>
              <a:rPr lang="en-US" sz="6399" spc="-255">
                <a:solidFill>
                  <a:srgbClr val="36211B"/>
                </a:solidFill>
                <a:latin typeface="Lovelo"/>
                <a:ea typeface="Lovelo"/>
                <a:cs typeface="Lovelo"/>
                <a:sym typeface="Lovelo"/>
              </a:rPr>
              <a:t>Milestones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3" id="3"/>
          <p:cNvSpPr txBox="true"/>
          <p:nvPr/>
        </p:nvSpPr>
        <p:spPr>
          <a:xfrm rot="0">
            <a:off x="1028700" y="3680625"/>
            <a:ext cx="3891203" cy="537845"/>
          </a:xfrm>
          <a:prstGeom prst="rect">
            <a:avLst/>
          </a:prstGeom>
        </p:spPr>
        <p:txBody>
          <a:bodyPr anchor="t" rtlCol="false" tIns="0" lIns="0" bIns="0" rIns="0">
            <a:spAutoFit/>
          </a:bodyPr>
          <a:lstStyle/>
          <a:p>
            <a:pPr algn="l">
              <a:lnSpc>
                <a:spcPts val="4480"/>
              </a:lnSpc>
            </a:pPr>
            <a:r>
              <a:rPr lang="en-US" sz="3200" spc="-128">
                <a:solidFill>
                  <a:srgbClr val="36211B"/>
                </a:solidFill>
                <a:latin typeface="Fraunces Light"/>
                <a:ea typeface="Fraunces Light"/>
                <a:cs typeface="Fraunces Light"/>
                <a:sym typeface="Fraunces Light"/>
              </a:rPr>
              <a:t>Storage Management</a:t>
            </a:r>
          </a:p>
        </p:txBody>
      </p:sp>
      <p:sp>
        <p:nvSpPr>
          <p:cNvPr name="TextBox 4" id="4"/>
          <p:cNvSpPr txBox="true"/>
          <p:nvPr/>
        </p:nvSpPr>
        <p:spPr>
          <a:xfrm rot="0">
            <a:off x="1028700" y="4980470"/>
            <a:ext cx="5223189" cy="3515995"/>
          </a:xfrm>
          <a:prstGeom prst="rect">
            <a:avLst/>
          </a:prstGeom>
        </p:spPr>
        <p:txBody>
          <a:bodyPr anchor="t" rtlCol="false" tIns="0" lIns="0" bIns="0" rIns="0">
            <a:spAutoFit/>
          </a:bodyPr>
          <a:lstStyle/>
          <a:p>
            <a:pPr algn="l" marL="474979" indent="-237490" lvl="1">
              <a:lnSpc>
                <a:spcPts val="3079"/>
              </a:lnSpc>
              <a:buFont typeface="Arial"/>
              <a:buChar char="•"/>
            </a:pPr>
            <a:r>
              <a:rPr lang="en-US" sz="2199" spc="-43">
                <a:solidFill>
                  <a:srgbClr val="36211B"/>
                </a:solidFill>
                <a:latin typeface="Public Sans"/>
                <a:ea typeface="Public Sans"/>
                <a:cs typeface="Public Sans"/>
                <a:sym typeface="Public Sans"/>
              </a:rPr>
              <a:t>Implemented chunking of files into smaller, manageable parts.</a:t>
            </a:r>
          </a:p>
          <a:p>
            <a:pPr algn="l" marL="474979" indent="-237490" lvl="1">
              <a:lnSpc>
                <a:spcPts val="3079"/>
              </a:lnSpc>
              <a:buFont typeface="Arial"/>
              <a:buChar char="•"/>
            </a:pPr>
            <a:r>
              <a:rPr lang="en-US" sz="2199" spc="-43">
                <a:solidFill>
                  <a:srgbClr val="36211B"/>
                </a:solidFill>
                <a:latin typeface="Public Sans"/>
                <a:ea typeface="Public Sans"/>
                <a:cs typeface="Public Sans"/>
                <a:sym typeface="Public Sans"/>
              </a:rPr>
              <a:t>Added replication logic to ensure data redundancy.</a:t>
            </a:r>
          </a:p>
          <a:p>
            <a:pPr algn="l" marL="949959" indent="-316653" lvl="2">
              <a:lnSpc>
                <a:spcPts val="3079"/>
              </a:lnSpc>
              <a:buFont typeface="Arial"/>
              <a:buChar char="⚬"/>
            </a:pPr>
            <a:r>
              <a:rPr lang="en-US" sz="2199" spc="-43">
                <a:solidFill>
                  <a:srgbClr val="36211B"/>
                </a:solidFill>
                <a:latin typeface="Public Sans"/>
                <a:ea typeface="Public Sans"/>
                <a:cs typeface="Public Sans"/>
                <a:sym typeface="Public Sans"/>
              </a:rPr>
              <a:t>Developed a mechanism to monitor storage usage in real-time and display it on the frontend.</a:t>
            </a:r>
          </a:p>
          <a:p>
            <a:pPr algn="l">
              <a:lnSpc>
                <a:spcPts val="3079"/>
              </a:lnSpc>
            </a:pPr>
          </a:p>
        </p:txBody>
      </p:sp>
      <p:sp>
        <p:nvSpPr>
          <p:cNvPr name="TextBox 5" id="5"/>
          <p:cNvSpPr txBox="true"/>
          <p:nvPr/>
        </p:nvSpPr>
        <p:spPr>
          <a:xfrm rot="0">
            <a:off x="6926445" y="3680625"/>
            <a:ext cx="4477275" cy="537845"/>
          </a:xfrm>
          <a:prstGeom prst="rect">
            <a:avLst/>
          </a:prstGeom>
        </p:spPr>
        <p:txBody>
          <a:bodyPr anchor="t" rtlCol="false" tIns="0" lIns="0" bIns="0" rIns="0">
            <a:spAutoFit/>
          </a:bodyPr>
          <a:lstStyle/>
          <a:p>
            <a:pPr algn="l">
              <a:lnSpc>
                <a:spcPts val="4480"/>
              </a:lnSpc>
            </a:pPr>
            <a:r>
              <a:rPr lang="en-US" sz="3200" spc="-128">
                <a:solidFill>
                  <a:srgbClr val="36211B"/>
                </a:solidFill>
                <a:latin typeface="Fraunces Light"/>
                <a:ea typeface="Fraunces Light"/>
                <a:cs typeface="Fraunces Light"/>
                <a:sym typeface="Fraunces Light"/>
              </a:rPr>
              <a:t>Fault Tolerance Testing</a:t>
            </a:r>
          </a:p>
        </p:txBody>
      </p:sp>
      <p:sp>
        <p:nvSpPr>
          <p:cNvPr name="TextBox 6" id="6"/>
          <p:cNvSpPr txBox="true"/>
          <p:nvPr/>
        </p:nvSpPr>
        <p:spPr>
          <a:xfrm rot="0">
            <a:off x="6733659" y="4980470"/>
            <a:ext cx="4862849" cy="3125470"/>
          </a:xfrm>
          <a:prstGeom prst="rect">
            <a:avLst/>
          </a:prstGeom>
        </p:spPr>
        <p:txBody>
          <a:bodyPr anchor="t" rtlCol="false" tIns="0" lIns="0" bIns="0" rIns="0">
            <a:spAutoFit/>
          </a:bodyPr>
          <a:lstStyle/>
          <a:p>
            <a:pPr algn="l" marL="474981" indent="-237491" lvl="1">
              <a:lnSpc>
                <a:spcPts val="3080"/>
              </a:lnSpc>
              <a:buFont typeface="Arial"/>
              <a:buChar char="•"/>
            </a:pPr>
            <a:r>
              <a:rPr lang="en-US" sz="2200" spc="-44">
                <a:solidFill>
                  <a:srgbClr val="36211B"/>
                </a:solidFill>
                <a:latin typeface="Public Sans"/>
                <a:ea typeface="Public Sans"/>
                <a:cs typeface="Public Sans"/>
                <a:sym typeface="Public Sans"/>
              </a:rPr>
              <a:t>Tested leader re-election and log consistency under master failures.</a:t>
            </a:r>
          </a:p>
          <a:p>
            <a:pPr algn="l" marL="474981" indent="-237491" lvl="1">
              <a:lnSpc>
                <a:spcPts val="3080"/>
              </a:lnSpc>
              <a:buFont typeface="Arial"/>
              <a:buChar char="•"/>
            </a:pPr>
            <a:r>
              <a:rPr lang="en-US" sz="2200" spc="-44">
                <a:solidFill>
                  <a:srgbClr val="36211B"/>
                </a:solidFill>
                <a:latin typeface="Public Sans"/>
                <a:ea typeface="Public Sans"/>
                <a:cs typeface="Public Sans"/>
                <a:sym typeface="Public Sans"/>
              </a:rPr>
              <a:t>Verified data integrity with checksum validation during file uploads and downloads.</a:t>
            </a:r>
          </a:p>
          <a:p>
            <a:pPr algn="l" marL="474981" indent="-237491" lvl="1">
              <a:lnSpc>
                <a:spcPts val="3080"/>
              </a:lnSpc>
              <a:buFont typeface="Arial"/>
              <a:buChar char="•"/>
            </a:pPr>
            <a:r>
              <a:rPr lang="en-US" sz="2200" spc="-44">
                <a:solidFill>
                  <a:srgbClr val="36211B"/>
                </a:solidFill>
                <a:latin typeface="Public Sans"/>
                <a:ea typeface="Public Sans"/>
                <a:cs typeface="Public Sans"/>
                <a:sym typeface="Public Sans"/>
              </a:rPr>
              <a:t>Simulated network partitions to ensure proper Raft recovery.</a:t>
            </a:r>
          </a:p>
          <a:p>
            <a:pPr algn="l">
              <a:lnSpc>
                <a:spcPts val="3080"/>
              </a:lnSpc>
            </a:pPr>
          </a:p>
        </p:txBody>
      </p:sp>
      <p:sp>
        <p:nvSpPr>
          <p:cNvPr name="TextBox 7" id="7"/>
          <p:cNvSpPr txBox="true"/>
          <p:nvPr/>
        </p:nvSpPr>
        <p:spPr>
          <a:xfrm rot="0">
            <a:off x="12820734" y="3598867"/>
            <a:ext cx="4477275" cy="537845"/>
          </a:xfrm>
          <a:prstGeom prst="rect">
            <a:avLst/>
          </a:prstGeom>
        </p:spPr>
        <p:txBody>
          <a:bodyPr anchor="t" rtlCol="false" tIns="0" lIns="0" bIns="0" rIns="0">
            <a:spAutoFit/>
          </a:bodyPr>
          <a:lstStyle/>
          <a:p>
            <a:pPr algn="l">
              <a:lnSpc>
                <a:spcPts val="4480"/>
              </a:lnSpc>
            </a:pPr>
            <a:r>
              <a:rPr lang="en-US" sz="3200" spc="-128">
                <a:solidFill>
                  <a:srgbClr val="36211B"/>
                </a:solidFill>
                <a:latin typeface="Fraunces Light"/>
                <a:ea typeface="Fraunces Light"/>
                <a:cs typeface="Fraunces Light"/>
                <a:sym typeface="Fraunces Light"/>
              </a:rPr>
              <a:t>Optimization</a:t>
            </a:r>
          </a:p>
        </p:txBody>
      </p:sp>
      <p:sp>
        <p:nvSpPr>
          <p:cNvPr name="TextBox 8" id="8"/>
          <p:cNvSpPr txBox="true"/>
          <p:nvPr/>
        </p:nvSpPr>
        <p:spPr>
          <a:xfrm rot="0">
            <a:off x="12820734" y="4980470"/>
            <a:ext cx="4477275" cy="3906521"/>
          </a:xfrm>
          <a:prstGeom prst="rect">
            <a:avLst/>
          </a:prstGeom>
        </p:spPr>
        <p:txBody>
          <a:bodyPr anchor="t" rtlCol="false" tIns="0" lIns="0" bIns="0" rIns="0">
            <a:spAutoFit/>
          </a:bodyPr>
          <a:lstStyle/>
          <a:p>
            <a:pPr algn="l" marL="474975" indent="-237487" lvl="1">
              <a:lnSpc>
                <a:spcPts val="3079"/>
              </a:lnSpc>
              <a:buFont typeface="Arial"/>
              <a:buChar char="•"/>
            </a:pPr>
            <a:r>
              <a:rPr lang="en-US" sz="2199" spc="-43">
                <a:solidFill>
                  <a:srgbClr val="36211B"/>
                </a:solidFill>
                <a:latin typeface="Public Sans"/>
                <a:ea typeface="Public Sans"/>
                <a:cs typeface="Public Sans"/>
                <a:sym typeface="Public Sans"/>
              </a:rPr>
              <a:t>Improved chunk replication by balancing load across chunk servers.</a:t>
            </a:r>
          </a:p>
          <a:p>
            <a:pPr algn="l" marL="474975" indent="-237487" lvl="1">
              <a:lnSpc>
                <a:spcPts val="3079"/>
              </a:lnSpc>
              <a:buFont typeface="Arial"/>
              <a:buChar char="•"/>
            </a:pPr>
            <a:r>
              <a:rPr lang="en-US" sz="2199" spc="-43">
                <a:solidFill>
                  <a:srgbClr val="36211B"/>
                </a:solidFill>
                <a:latin typeface="Public Sans"/>
                <a:ea typeface="Public Sans"/>
                <a:cs typeface="Public Sans"/>
                <a:sym typeface="Public Sans"/>
              </a:rPr>
              <a:t>Reduced response time for API calls by optimizing backend logic.</a:t>
            </a:r>
          </a:p>
          <a:p>
            <a:pPr algn="l" marL="474975" indent="-237487" lvl="1">
              <a:lnSpc>
                <a:spcPts val="3079"/>
              </a:lnSpc>
              <a:buFont typeface="Arial"/>
              <a:buChar char="•"/>
            </a:pPr>
            <a:r>
              <a:rPr lang="en-US" sz="2199" spc="-43">
                <a:solidFill>
                  <a:srgbClr val="36211B"/>
                </a:solidFill>
                <a:latin typeface="Public Sans"/>
                <a:ea typeface="Public Sans"/>
                <a:cs typeface="Public Sans"/>
                <a:sym typeface="Public Sans"/>
              </a:rPr>
              <a:t>Refined the frontend for faster state updates and better responsiveness.</a:t>
            </a:r>
          </a:p>
          <a:p>
            <a:pPr algn="l">
              <a:lnSpc>
                <a:spcPts val="3079"/>
              </a:lnSpc>
            </a:pPr>
          </a:p>
        </p:txBody>
      </p:sp>
      <p:sp>
        <p:nvSpPr>
          <p:cNvPr name="TextBox 9" id="9"/>
          <p:cNvSpPr txBox="true"/>
          <p:nvPr/>
        </p:nvSpPr>
        <p:spPr>
          <a:xfrm rot="0">
            <a:off x="1028700" y="2781622"/>
            <a:ext cx="398364" cy="396240"/>
          </a:xfrm>
          <a:prstGeom prst="rect">
            <a:avLst/>
          </a:prstGeom>
        </p:spPr>
        <p:txBody>
          <a:bodyPr anchor="t" rtlCol="false" tIns="0" lIns="0" bIns="0" rIns="0">
            <a:spAutoFit/>
          </a:bodyPr>
          <a:lstStyle/>
          <a:p>
            <a:pPr algn="l">
              <a:lnSpc>
                <a:spcPts val="3359"/>
              </a:lnSpc>
            </a:pPr>
            <a:r>
              <a:rPr lang="en-US" sz="2400" spc="-96">
                <a:solidFill>
                  <a:srgbClr val="36211B"/>
                </a:solidFill>
                <a:latin typeface="Fraunces Light"/>
                <a:ea typeface="Fraunces Light"/>
                <a:cs typeface="Fraunces Light"/>
                <a:sym typeface="Fraunces Light"/>
              </a:rPr>
              <a:t>4</a:t>
            </a:r>
          </a:p>
        </p:txBody>
      </p:sp>
      <p:sp>
        <p:nvSpPr>
          <p:cNvPr name="TextBox 10" id="10"/>
          <p:cNvSpPr txBox="true"/>
          <p:nvPr/>
        </p:nvSpPr>
        <p:spPr>
          <a:xfrm rot="0">
            <a:off x="6926445" y="2618740"/>
            <a:ext cx="398364" cy="396240"/>
          </a:xfrm>
          <a:prstGeom prst="rect">
            <a:avLst/>
          </a:prstGeom>
        </p:spPr>
        <p:txBody>
          <a:bodyPr anchor="t" rtlCol="false" tIns="0" lIns="0" bIns="0" rIns="0">
            <a:spAutoFit/>
          </a:bodyPr>
          <a:lstStyle/>
          <a:p>
            <a:pPr algn="l">
              <a:lnSpc>
                <a:spcPts val="3359"/>
              </a:lnSpc>
            </a:pPr>
            <a:r>
              <a:rPr lang="en-US" sz="2400" spc="-96">
                <a:solidFill>
                  <a:srgbClr val="36211B"/>
                </a:solidFill>
                <a:latin typeface="Fraunces Light"/>
                <a:ea typeface="Fraunces Light"/>
                <a:cs typeface="Fraunces Light"/>
                <a:sym typeface="Fraunces Light"/>
              </a:rPr>
              <a:t>5</a:t>
            </a:r>
          </a:p>
        </p:txBody>
      </p:sp>
      <p:sp>
        <p:nvSpPr>
          <p:cNvPr name="TextBox 11" id="11"/>
          <p:cNvSpPr txBox="true"/>
          <p:nvPr/>
        </p:nvSpPr>
        <p:spPr>
          <a:xfrm rot="0">
            <a:off x="12820734" y="2602552"/>
            <a:ext cx="398364" cy="396240"/>
          </a:xfrm>
          <a:prstGeom prst="rect">
            <a:avLst/>
          </a:prstGeom>
        </p:spPr>
        <p:txBody>
          <a:bodyPr anchor="t" rtlCol="false" tIns="0" lIns="0" bIns="0" rIns="0">
            <a:spAutoFit/>
          </a:bodyPr>
          <a:lstStyle/>
          <a:p>
            <a:pPr algn="l">
              <a:lnSpc>
                <a:spcPts val="3359"/>
              </a:lnSpc>
            </a:pPr>
            <a:r>
              <a:rPr lang="en-US" sz="2400" spc="-96">
                <a:solidFill>
                  <a:srgbClr val="36211B"/>
                </a:solidFill>
                <a:latin typeface="Fraunces Light"/>
                <a:ea typeface="Fraunces Light"/>
                <a:cs typeface="Fraunces Light"/>
                <a:sym typeface="Fraunces Light"/>
              </a:rPr>
              <a:t>6</a:t>
            </a:r>
          </a:p>
        </p:txBody>
      </p:sp>
      <p:sp>
        <p:nvSpPr>
          <p:cNvPr name="TextBox 12" id="12"/>
          <p:cNvSpPr txBox="true"/>
          <p:nvPr/>
        </p:nvSpPr>
        <p:spPr>
          <a:xfrm rot="0">
            <a:off x="1028700" y="885825"/>
            <a:ext cx="14746745" cy="1113790"/>
          </a:xfrm>
          <a:prstGeom prst="rect">
            <a:avLst/>
          </a:prstGeom>
        </p:spPr>
        <p:txBody>
          <a:bodyPr anchor="t" rtlCol="false" tIns="0" lIns="0" bIns="0" rIns="0">
            <a:spAutoFit/>
          </a:bodyPr>
          <a:lstStyle/>
          <a:p>
            <a:pPr algn="l">
              <a:lnSpc>
                <a:spcPts val="8959"/>
              </a:lnSpc>
            </a:pPr>
            <a:r>
              <a:rPr lang="en-US" sz="6399" spc="-255">
                <a:solidFill>
                  <a:srgbClr val="36211B"/>
                </a:solidFill>
                <a:latin typeface="Lovelo"/>
                <a:ea typeface="Lovelo"/>
                <a:cs typeface="Lovelo"/>
                <a:sym typeface="Lovelo"/>
              </a:rPr>
              <a:t>Milestones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TextBox 2" id="2"/>
          <p:cNvSpPr txBox="true"/>
          <p:nvPr/>
        </p:nvSpPr>
        <p:spPr>
          <a:xfrm rot="0">
            <a:off x="1028700" y="885825"/>
            <a:ext cx="14746745" cy="1113790"/>
          </a:xfrm>
          <a:prstGeom prst="rect">
            <a:avLst/>
          </a:prstGeom>
        </p:spPr>
        <p:txBody>
          <a:bodyPr anchor="t" rtlCol="false" tIns="0" lIns="0" bIns="0" rIns="0">
            <a:spAutoFit/>
          </a:bodyPr>
          <a:lstStyle/>
          <a:p>
            <a:pPr algn="l">
              <a:lnSpc>
                <a:spcPts val="8959"/>
              </a:lnSpc>
            </a:pPr>
            <a:r>
              <a:rPr lang="en-US" sz="6399" spc="-255">
                <a:solidFill>
                  <a:srgbClr val="36211B"/>
                </a:solidFill>
                <a:latin typeface="Lovelo"/>
                <a:ea typeface="Lovelo"/>
                <a:cs typeface="Lovelo"/>
                <a:sym typeface="Lovelo"/>
              </a:rPr>
              <a:t>Implementation</a:t>
            </a:r>
          </a:p>
        </p:txBody>
      </p:sp>
      <p:sp>
        <p:nvSpPr>
          <p:cNvPr name="Freeform 3" id="3"/>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4" id="4"/>
          <p:cNvSpPr txBox="true"/>
          <p:nvPr/>
        </p:nvSpPr>
        <p:spPr>
          <a:xfrm rot="0">
            <a:off x="1028700" y="2936202"/>
            <a:ext cx="15734262" cy="4036949"/>
          </a:xfrm>
          <a:prstGeom prst="rect">
            <a:avLst/>
          </a:prstGeom>
        </p:spPr>
        <p:txBody>
          <a:bodyPr anchor="t" rtlCol="false" tIns="0" lIns="0" bIns="0" rIns="0">
            <a:spAutoFit/>
          </a:bodyPr>
          <a:lstStyle/>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Backend Modules:</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Master Server: Handles metadata, Raft consensus, and chunk server coordination.</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Chunk Server: Stores chunks and communicates with the master for replication and data integrity.</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WebSocket Server: Provides APIs for frontend integration.</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Client: Manages chunk uploads/downloads and leader discovery.</a:t>
            </a:r>
          </a:p>
          <a:p>
            <a:pPr algn="l">
              <a:lnSpc>
                <a:spcPts val="4647"/>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TextBox 2" id="2"/>
          <p:cNvSpPr txBox="true"/>
          <p:nvPr/>
        </p:nvSpPr>
        <p:spPr>
          <a:xfrm rot="0">
            <a:off x="1028700" y="885825"/>
            <a:ext cx="14746745" cy="1113790"/>
          </a:xfrm>
          <a:prstGeom prst="rect">
            <a:avLst/>
          </a:prstGeom>
        </p:spPr>
        <p:txBody>
          <a:bodyPr anchor="t" rtlCol="false" tIns="0" lIns="0" bIns="0" rIns="0">
            <a:spAutoFit/>
          </a:bodyPr>
          <a:lstStyle/>
          <a:p>
            <a:pPr algn="l">
              <a:lnSpc>
                <a:spcPts val="8959"/>
              </a:lnSpc>
            </a:pPr>
            <a:r>
              <a:rPr lang="en-US" sz="6399" spc="-255">
                <a:solidFill>
                  <a:srgbClr val="36211B"/>
                </a:solidFill>
                <a:latin typeface="Lovelo"/>
                <a:ea typeface="Lovelo"/>
                <a:cs typeface="Lovelo"/>
                <a:sym typeface="Lovelo"/>
              </a:rPr>
              <a:t>Consensus algorithm</a:t>
            </a:r>
          </a:p>
        </p:txBody>
      </p:sp>
      <p:sp>
        <p:nvSpPr>
          <p:cNvPr name="Freeform 3" id="3"/>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4" id="4"/>
          <p:cNvSpPr txBox="true"/>
          <p:nvPr/>
        </p:nvSpPr>
        <p:spPr>
          <a:xfrm rot="0">
            <a:off x="1028700" y="2417484"/>
            <a:ext cx="15734262" cy="6942074"/>
          </a:xfrm>
          <a:prstGeom prst="rect">
            <a:avLst/>
          </a:prstGeom>
        </p:spPr>
        <p:txBody>
          <a:bodyPr anchor="t" rtlCol="false" tIns="0" lIns="0" bIns="0" rIns="0">
            <a:spAutoFit/>
          </a:bodyPr>
          <a:lstStyle/>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Problem with Distributed Systems:</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Multiple nodes must agree on the state of shared data, ensuring consistency across the system.</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Master nodes need a mechanism for coordination and fault tolerance.</a:t>
            </a:r>
          </a:p>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Chosen Solution: Raft Algorithm, Why Raft?</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Leader-based approach: One master node is elected as the leader, ensuring a consistent state across the system.</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Log replication: Changes are propagated from leader to followers, maintaining consistency.</a:t>
            </a:r>
          </a:p>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Key Features:</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Leader Election: Determines which master node will manage file operations.</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Log Replication: Ensures all master nodes have the same data.</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Safety Guarantees: Prevents inconsistent state during failures.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TextBox 2" id="2"/>
          <p:cNvSpPr txBox="true"/>
          <p:nvPr/>
        </p:nvSpPr>
        <p:spPr>
          <a:xfrm rot="0">
            <a:off x="1028700" y="885825"/>
            <a:ext cx="14746745" cy="1113790"/>
          </a:xfrm>
          <a:prstGeom prst="rect">
            <a:avLst/>
          </a:prstGeom>
        </p:spPr>
        <p:txBody>
          <a:bodyPr anchor="t" rtlCol="false" tIns="0" lIns="0" bIns="0" rIns="0">
            <a:spAutoFit/>
          </a:bodyPr>
          <a:lstStyle/>
          <a:p>
            <a:pPr algn="l">
              <a:lnSpc>
                <a:spcPts val="8959"/>
              </a:lnSpc>
            </a:pPr>
            <a:r>
              <a:rPr lang="en-US" sz="6399" spc="-255">
                <a:solidFill>
                  <a:srgbClr val="36211B"/>
                </a:solidFill>
                <a:latin typeface="Lovelo"/>
                <a:ea typeface="Lovelo"/>
                <a:cs typeface="Lovelo"/>
                <a:sym typeface="Lovelo"/>
              </a:rPr>
              <a:t>Consensus algorithm</a:t>
            </a:r>
          </a:p>
        </p:txBody>
      </p:sp>
      <p:sp>
        <p:nvSpPr>
          <p:cNvPr name="Freeform 3" id="3"/>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4" id="4"/>
          <p:cNvSpPr txBox="true"/>
          <p:nvPr/>
        </p:nvSpPr>
        <p:spPr>
          <a:xfrm rot="0">
            <a:off x="1028700" y="2998509"/>
            <a:ext cx="15734262" cy="5198999"/>
          </a:xfrm>
          <a:prstGeom prst="rect">
            <a:avLst/>
          </a:prstGeom>
        </p:spPr>
        <p:txBody>
          <a:bodyPr anchor="t" rtlCol="false" tIns="0" lIns="0" bIns="0" rIns="0">
            <a:spAutoFit/>
          </a:bodyPr>
          <a:lstStyle/>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The Raft consensus algorithm is designed to ensure that a distributed system of nodes (often called "replicas") agree on the same state, even in the presence of failures. It operates on a leader-follower model, where one node (the leader) is responsible for managing log entries and coordinating actions, while the other nodes (followers) replicate the leader’s log entries.</a:t>
            </a:r>
          </a:p>
          <a:p>
            <a:pPr algn="l" marL="604519" indent="-302260" lvl="1">
              <a:lnSpc>
                <a:spcPts val="4647"/>
              </a:lnSpc>
              <a:buFont typeface="Arial"/>
              <a:buChar char="•"/>
            </a:pPr>
            <a:r>
              <a:rPr lang="en-US" sz="2799" spc="-55">
                <a:solidFill>
                  <a:srgbClr val="36211B"/>
                </a:solidFill>
                <a:latin typeface="Public Sans"/>
                <a:ea typeface="Public Sans"/>
                <a:cs typeface="Public Sans"/>
                <a:sym typeface="Public Sans"/>
              </a:rPr>
              <a:t>Overview:</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Leader Election</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Heartbeat Mechanism</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Log Replication and Consistency</a:t>
            </a:r>
          </a:p>
          <a:p>
            <a:pPr algn="l" marL="1209039" indent="-403013" lvl="2">
              <a:lnSpc>
                <a:spcPts val="4647"/>
              </a:lnSpc>
              <a:buFont typeface="Arial"/>
              <a:buChar char="⚬"/>
            </a:pPr>
            <a:r>
              <a:rPr lang="en-US" sz="2799" spc="-55">
                <a:solidFill>
                  <a:srgbClr val="36211B"/>
                </a:solidFill>
                <a:latin typeface="Public Sans"/>
                <a:ea typeface="Public Sans"/>
                <a:cs typeface="Public Sans"/>
                <a:sym typeface="Public Sans"/>
              </a:rPr>
              <a:t>Safety and handling failures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Freeform 2" id="2"/>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Freeform 3" id="3"/>
          <p:cNvSpPr/>
          <p:nvPr/>
        </p:nvSpPr>
        <p:spPr>
          <a:xfrm flipH="false" flipV="false" rot="0">
            <a:off x="2868894" y="1999615"/>
            <a:ext cx="7160163" cy="3740693"/>
          </a:xfrm>
          <a:custGeom>
            <a:avLst/>
            <a:gdLst/>
            <a:ahLst/>
            <a:cxnLst/>
            <a:rect r="r" b="b" t="t" l="l"/>
            <a:pathLst>
              <a:path h="3740693" w="7160163">
                <a:moveTo>
                  <a:pt x="0" y="0"/>
                </a:moveTo>
                <a:lnTo>
                  <a:pt x="7160163" y="0"/>
                </a:lnTo>
                <a:lnTo>
                  <a:pt x="7160163" y="3740693"/>
                </a:lnTo>
                <a:lnTo>
                  <a:pt x="0" y="3740693"/>
                </a:lnTo>
                <a:lnTo>
                  <a:pt x="0" y="0"/>
                </a:lnTo>
                <a:close/>
              </a:path>
            </a:pathLst>
          </a:custGeom>
          <a:blipFill>
            <a:blip r:embed="rId3"/>
            <a:stretch>
              <a:fillRect l="0" t="0" r="0" b="0"/>
            </a:stretch>
          </a:blipFill>
        </p:spPr>
      </p:sp>
      <p:sp>
        <p:nvSpPr>
          <p:cNvPr name="Freeform 4" id="4"/>
          <p:cNvSpPr/>
          <p:nvPr/>
        </p:nvSpPr>
        <p:spPr>
          <a:xfrm flipH="false" flipV="false" rot="0">
            <a:off x="1028700" y="2635527"/>
            <a:ext cx="2733630" cy="2733630"/>
          </a:xfrm>
          <a:custGeom>
            <a:avLst/>
            <a:gdLst/>
            <a:ahLst/>
            <a:cxnLst/>
            <a:rect r="r" b="b" t="t" l="l"/>
            <a:pathLst>
              <a:path h="2733630" w="2733630">
                <a:moveTo>
                  <a:pt x="0" y="0"/>
                </a:moveTo>
                <a:lnTo>
                  <a:pt x="2733630" y="0"/>
                </a:lnTo>
                <a:lnTo>
                  <a:pt x="2733630" y="2733630"/>
                </a:lnTo>
                <a:lnTo>
                  <a:pt x="0" y="2733630"/>
                </a:lnTo>
                <a:lnTo>
                  <a:pt x="0" y="0"/>
                </a:lnTo>
                <a:close/>
              </a:path>
            </a:pathLst>
          </a:custGeom>
          <a:blipFill>
            <a:blip r:embed="rId4"/>
            <a:stretch>
              <a:fillRect l="0" t="0" r="0" b="0"/>
            </a:stretch>
          </a:blipFill>
        </p:spPr>
      </p:sp>
      <p:sp>
        <p:nvSpPr>
          <p:cNvPr name="TextBox 5" id="5"/>
          <p:cNvSpPr txBox="true"/>
          <p:nvPr/>
        </p:nvSpPr>
        <p:spPr>
          <a:xfrm rot="0">
            <a:off x="9807187" y="1932940"/>
            <a:ext cx="6422248" cy="6434455"/>
          </a:xfrm>
          <a:prstGeom prst="rect">
            <a:avLst/>
          </a:prstGeom>
        </p:spPr>
        <p:txBody>
          <a:bodyPr anchor="t" rtlCol="false" tIns="0" lIns="0" bIns="0" rIns="0">
            <a:spAutoFit/>
          </a:bodyPr>
          <a:lstStyle/>
          <a:p>
            <a:pPr algn="l" marL="604519" indent="-302260" lvl="1">
              <a:lnSpc>
                <a:spcPts val="3919"/>
              </a:lnSpc>
              <a:buFont typeface="Arial"/>
              <a:buChar char="•"/>
            </a:pPr>
            <a:r>
              <a:rPr lang="en-US" sz="2799" spc="-111">
                <a:solidFill>
                  <a:srgbClr val="36211B"/>
                </a:solidFill>
                <a:latin typeface="Public Sans"/>
                <a:ea typeface="Public Sans"/>
                <a:cs typeface="Public Sans"/>
                <a:sym typeface="Public Sans"/>
              </a:rPr>
              <a:t>Key Features:</a:t>
            </a:r>
          </a:p>
          <a:p>
            <a:pPr algn="l" marL="1209039" indent="-403013" lvl="2">
              <a:lnSpc>
                <a:spcPts val="3919"/>
              </a:lnSpc>
              <a:buFont typeface="Arial"/>
              <a:buChar char="⚬"/>
            </a:pPr>
            <a:r>
              <a:rPr lang="en-US" sz="2799" spc="-111">
                <a:solidFill>
                  <a:srgbClr val="36211B"/>
                </a:solidFill>
                <a:latin typeface="Public Sans"/>
                <a:ea typeface="Public Sans"/>
                <a:cs typeface="Public Sans"/>
                <a:sym typeface="Public Sans"/>
              </a:rPr>
              <a:t>Upload, download, and manage files through an intuitive UI.</a:t>
            </a:r>
          </a:p>
          <a:p>
            <a:pPr algn="l" marL="1209039" indent="-403013" lvl="2">
              <a:lnSpc>
                <a:spcPts val="3919"/>
              </a:lnSpc>
              <a:buFont typeface="Arial"/>
              <a:buChar char="⚬"/>
            </a:pPr>
            <a:r>
              <a:rPr lang="en-US" sz="2799" spc="-111">
                <a:solidFill>
                  <a:srgbClr val="36211B"/>
                </a:solidFill>
                <a:latin typeface="Public Sans"/>
                <a:ea typeface="Public Sans"/>
                <a:cs typeface="Public Sans"/>
                <a:sym typeface="Public Sans"/>
              </a:rPr>
              <a:t>Real-time updates for file lists and storage usage.</a:t>
            </a:r>
          </a:p>
          <a:p>
            <a:pPr algn="l" marL="1209039" indent="-403013" lvl="2">
              <a:lnSpc>
                <a:spcPts val="3919"/>
              </a:lnSpc>
              <a:buFont typeface="Arial"/>
              <a:buChar char="⚬"/>
            </a:pPr>
            <a:r>
              <a:rPr lang="en-US" sz="2799" spc="-111">
                <a:solidFill>
                  <a:srgbClr val="36211B"/>
                </a:solidFill>
                <a:latin typeface="Public Sans"/>
                <a:ea typeface="Public Sans"/>
                <a:cs typeface="Public Sans"/>
                <a:sym typeface="Public Sans"/>
              </a:rPr>
              <a:t>Lease management for exclusive file operations.</a:t>
            </a:r>
          </a:p>
          <a:p>
            <a:pPr algn="l" marL="604519" indent="-302260" lvl="1">
              <a:lnSpc>
                <a:spcPts val="3919"/>
              </a:lnSpc>
              <a:buFont typeface="Arial"/>
              <a:buChar char="•"/>
            </a:pPr>
            <a:r>
              <a:rPr lang="en-US" sz="2799" spc="-111">
                <a:solidFill>
                  <a:srgbClr val="36211B"/>
                </a:solidFill>
                <a:latin typeface="Public Sans"/>
                <a:ea typeface="Public Sans"/>
                <a:cs typeface="Public Sans"/>
                <a:sym typeface="Public Sans"/>
              </a:rPr>
              <a:t>Core Technologies:</a:t>
            </a:r>
          </a:p>
          <a:p>
            <a:pPr algn="l" marL="1209039" indent="-403013" lvl="2">
              <a:lnSpc>
                <a:spcPts val="3919"/>
              </a:lnSpc>
              <a:buFont typeface="Arial"/>
              <a:buChar char="⚬"/>
            </a:pPr>
            <a:r>
              <a:rPr lang="en-US" sz="2799" spc="-111">
                <a:solidFill>
                  <a:srgbClr val="36211B"/>
                </a:solidFill>
                <a:latin typeface="Public Sans"/>
                <a:ea typeface="Public Sans"/>
                <a:cs typeface="Public Sans"/>
                <a:sym typeface="Public Sans"/>
              </a:rPr>
              <a:t>React and Vite for a responsive and efficient frontend.</a:t>
            </a:r>
          </a:p>
          <a:p>
            <a:pPr algn="l" marL="604519" indent="-302260" lvl="1">
              <a:lnSpc>
                <a:spcPts val="3919"/>
              </a:lnSpc>
              <a:buFont typeface="Arial"/>
              <a:buChar char="•"/>
            </a:pPr>
            <a:r>
              <a:rPr lang="en-US" sz="2799" spc="-111">
                <a:solidFill>
                  <a:srgbClr val="36211B"/>
                </a:solidFill>
                <a:latin typeface="Public Sans"/>
                <a:ea typeface="Public Sans"/>
                <a:cs typeface="Public Sans"/>
                <a:sym typeface="Public Sans"/>
              </a:rPr>
              <a:t>useGFSOperations hook for centralized backend communication</a:t>
            </a:r>
          </a:p>
          <a:p>
            <a:pPr algn="l">
              <a:lnSpc>
                <a:spcPts val="3919"/>
              </a:lnSpc>
            </a:pPr>
          </a:p>
        </p:txBody>
      </p:sp>
      <p:sp>
        <p:nvSpPr>
          <p:cNvPr name="TextBox 6" id="6"/>
          <p:cNvSpPr txBox="true"/>
          <p:nvPr/>
        </p:nvSpPr>
        <p:spPr>
          <a:xfrm rot="0">
            <a:off x="1028700" y="885825"/>
            <a:ext cx="14746745" cy="1113790"/>
          </a:xfrm>
          <a:prstGeom prst="rect">
            <a:avLst/>
          </a:prstGeom>
        </p:spPr>
        <p:txBody>
          <a:bodyPr anchor="t" rtlCol="false" tIns="0" lIns="0" bIns="0" rIns="0">
            <a:spAutoFit/>
          </a:bodyPr>
          <a:lstStyle/>
          <a:p>
            <a:pPr algn="l">
              <a:lnSpc>
                <a:spcPts val="8959"/>
              </a:lnSpc>
            </a:pPr>
            <a:r>
              <a:rPr lang="en-US" sz="6399" spc="-255">
                <a:solidFill>
                  <a:srgbClr val="36211B"/>
                </a:solidFill>
                <a:latin typeface="Lovelo"/>
                <a:ea typeface="Lovelo"/>
                <a:cs typeface="Lovelo"/>
                <a:sym typeface="Lovelo"/>
              </a:rPr>
              <a:t>FRontend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Freeform 2" id="2"/>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Freeform 3" id="3"/>
          <p:cNvSpPr/>
          <p:nvPr/>
        </p:nvSpPr>
        <p:spPr>
          <a:xfrm flipH="false" flipV="false" rot="0">
            <a:off x="1028700" y="2680147"/>
            <a:ext cx="7712924" cy="4627755"/>
          </a:xfrm>
          <a:custGeom>
            <a:avLst/>
            <a:gdLst/>
            <a:ahLst/>
            <a:cxnLst/>
            <a:rect r="r" b="b" t="t" l="l"/>
            <a:pathLst>
              <a:path h="4627755" w="7712924">
                <a:moveTo>
                  <a:pt x="0" y="0"/>
                </a:moveTo>
                <a:lnTo>
                  <a:pt x="7712924" y="0"/>
                </a:lnTo>
                <a:lnTo>
                  <a:pt x="7712924" y="4627755"/>
                </a:lnTo>
                <a:lnTo>
                  <a:pt x="0" y="4627755"/>
                </a:lnTo>
                <a:lnTo>
                  <a:pt x="0" y="0"/>
                </a:lnTo>
                <a:close/>
              </a:path>
            </a:pathLst>
          </a:custGeom>
          <a:blipFill>
            <a:blip r:embed="rId3"/>
            <a:stretch>
              <a:fillRect l="0" t="0" r="0" b="0"/>
            </a:stretch>
          </a:blipFill>
        </p:spPr>
      </p:sp>
      <p:sp>
        <p:nvSpPr>
          <p:cNvPr name="Freeform 4" id="4"/>
          <p:cNvSpPr/>
          <p:nvPr/>
        </p:nvSpPr>
        <p:spPr>
          <a:xfrm flipH="false" flipV="false" rot="0">
            <a:off x="10128385" y="2680147"/>
            <a:ext cx="7372712" cy="4627755"/>
          </a:xfrm>
          <a:custGeom>
            <a:avLst/>
            <a:gdLst/>
            <a:ahLst/>
            <a:cxnLst/>
            <a:rect r="r" b="b" t="t" l="l"/>
            <a:pathLst>
              <a:path h="4627755" w="7372712">
                <a:moveTo>
                  <a:pt x="0" y="0"/>
                </a:moveTo>
                <a:lnTo>
                  <a:pt x="7372713" y="0"/>
                </a:lnTo>
                <a:lnTo>
                  <a:pt x="7372713" y="4627755"/>
                </a:lnTo>
                <a:lnTo>
                  <a:pt x="0" y="4627755"/>
                </a:lnTo>
                <a:lnTo>
                  <a:pt x="0" y="0"/>
                </a:lnTo>
                <a:close/>
              </a:path>
            </a:pathLst>
          </a:custGeom>
          <a:blipFill>
            <a:blip r:embed="rId4"/>
            <a:stretch>
              <a:fillRect l="-2307" t="0" r="-2307" b="0"/>
            </a:stretch>
          </a:blipFill>
        </p:spPr>
      </p:sp>
      <p:sp>
        <p:nvSpPr>
          <p:cNvPr name="TextBox 5" id="5"/>
          <p:cNvSpPr txBox="true"/>
          <p:nvPr/>
        </p:nvSpPr>
        <p:spPr>
          <a:xfrm rot="0">
            <a:off x="1028700" y="1009650"/>
            <a:ext cx="16230600" cy="990600"/>
          </a:xfrm>
          <a:prstGeom prst="rect">
            <a:avLst/>
          </a:prstGeom>
        </p:spPr>
        <p:txBody>
          <a:bodyPr anchor="t" rtlCol="false" tIns="0" lIns="0" bIns="0" rIns="0">
            <a:spAutoFit/>
          </a:bodyPr>
          <a:lstStyle/>
          <a:p>
            <a:pPr algn="l" marL="0" indent="0" lvl="0">
              <a:lnSpc>
                <a:spcPts val="7680"/>
              </a:lnSpc>
              <a:spcBef>
                <a:spcPct val="0"/>
              </a:spcBef>
            </a:pPr>
            <a:r>
              <a:rPr lang="en-US" sz="6400">
                <a:solidFill>
                  <a:srgbClr val="000000"/>
                </a:solidFill>
                <a:latin typeface="Lovelo"/>
                <a:ea typeface="Lovelo"/>
                <a:cs typeface="Lovelo"/>
                <a:sym typeface="Lovelo"/>
              </a:rPr>
              <a:t>Benchmarking Plots</a:t>
            </a:r>
          </a:p>
        </p:txBody>
      </p:sp>
      <p:sp>
        <p:nvSpPr>
          <p:cNvPr name="TextBox 6" id="6"/>
          <p:cNvSpPr txBox="true"/>
          <p:nvPr/>
        </p:nvSpPr>
        <p:spPr>
          <a:xfrm rot="0">
            <a:off x="10217158" y="8239647"/>
            <a:ext cx="7195166" cy="512315"/>
          </a:xfrm>
          <a:prstGeom prst="rect">
            <a:avLst/>
          </a:prstGeom>
        </p:spPr>
        <p:txBody>
          <a:bodyPr anchor="t" rtlCol="false" tIns="0" lIns="0" bIns="0" rIns="0">
            <a:spAutoFit/>
          </a:bodyPr>
          <a:lstStyle/>
          <a:p>
            <a:pPr algn="ctr" marL="0" indent="0" lvl="0">
              <a:lnSpc>
                <a:spcPts val="4108"/>
              </a:lnSpc>
              <a:spcBef>
                <a:spcPct val="0"/>
              </a:spcBef>
            </a:pPr>
            <a:r>
              <a:rPr lang="en-US" b="true" sz="3160">
                <a:solidFill>
                  <a:srgbClr val="000000"/>
                </a:solidFill>
                <a:latin typeface="Public Sans Bold"/>
                <a:ea typeface="Public Sans Bold"/>
                <a:cs typeface="Public Sans Bold"/>
                <a:sym typeface="Public Sans Bold"/>
              </a:rPr>
              <a:t>Download Time vs File Size</a:t>
            </a:r>
          </a:p>
        </p:txBody>
      </p:sp>
      <p:sp>
        <p:nvSpPr>
          <p:cNvPr name="TextBox 7" id="7"/>
          <p:cNvSpPr txBox="true"/>
          <p:nvPr/>
        </p:nvSpPr>
        <p:spPr>
          <a:xfrm rot="0">
            <a:off x="1287579" y="8334132"/>
            <a:ext cx="7195166" cy="512315"/>
          </a:xfrm>
          <a:prstGeom prst="rect">
            <a:avLst/>
          </a:prstGeom>
        </p:spPr>
        <p:txBody>
          <a:bodyPr anchor="t" rtlCol="false" tIns="0" lIns="0" bIns="0" rIns="0">
            <a:spAutoFit/>
          </a:bodyPr>
          <a:lstStyle/>
          <a:p>
            <a:pPr algn="ctr" marL="0" indent="0" lvl="0">
              <a:lnSpc>
                <a:spcPts val="4108"/>
              </a:lnSpc>
              <a:spcBef>
                <a:spcPct val="0"/>
              </a:spcBef>
            </a:pPr>
            <a:r>
              <a:rPr lang="en-US" b="true" sz="3160">
                <a:solidFill>
                  <a:srgbClr val="000000"/>
                </a:solidFill>
                <a:latin typeface="Public Sans Bold"/>
                <a:ea typeface="Public Sans Bold"/>
                <a:cs typeface="Public Sans Bold"/>
                <a:sym typeface="Public Sans Bold"/>
              </a:rPr>
              <a:t>Upload Time vs File Size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Freeform 2" id="2"/>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Freeform 3" id="3"/>
          <p:cNvSpPr/>
          <p:nvPr/>
        </p:nvSpPr>
        <p:spPr>
          <a:xfrm flipH="false" flipV="false" rot="0">
            <a:off x="710182" y="2141932"/>
            <a:ext cx="8070925" cy="4842555"/>
          </a:xfrm>
          <a:custGeom>
            <a:avLst/>
            <a:gdLst/>
            <a:ahLst/>
            <a:cxnLst/>
            <a:rect r="r" b="b" t="t" l="l"/>
            <a:pathLst>
              <a:path h="4842555" w="8070925">
                <a:moveTo>
                  <a:pt x="0" y="0"/>
                </a:moveTo>
                <a:lnTo>
                  <a:pt x="8070925" y="0"/>
                </a:lnTo>
                <a:lnTo>
                  <a:pt x="8070925" y="4842554"/>
                </a:lnTo>
                <a:lnTo>
                  <a:pt x="0" y="4842554"/>
                </a:lnTo>
                <a:lnTo>
                  <a:pt x="0" y="0"/>
                </a:lnTo>
                <a:close/>
              </a:path>
            </a:pathLst>
          </a:custGeom>
          <a:blipFill>
            <a:blip r:embed="rId3"/>
            <a:stretch>
              <a:fillRect l="0" t="0" r="0" b="0"/>
            </a:stretch>
          </a:blipFill>
        </p:spPr>
      </p:sp>
      <p:sp>
        <p:nvSpPr>
          <p:cNvPr name="Freeform 4" id="4"/>
          <p:cNvSpPr/>
          <p:nvPr/>
        </p:nvSpPr>
        <p:spPr>
          <a:xfrm flipH="false" flipV="false" rot="0">
            <a:off x="10280166" y="2141932"/>
            <a:ext cx="7402749" cy="4842555"/>
          </a:xfrm>
          <a:custGeom>
            <a:avLst/>
            <a:gdLst/>
            <a:ahLst/>
            <a:cxnLst/>
            <a:rect r="r" b="b" t="t" l="l"/>
            <a:pathLst>
              <a:path h="4842555" w="7402749">
                <a:moveTo>
                  <a:pt x="0" y="0"/>
                </a:moveTo>
                <a:lnTo>
                  <a:pt x="7402749" y="0"/>
                </a:lnTo>
                <a:lnTo>
                  <a:pt x="7402749" y="4842554"/>
                </a:lnTo>
                <a:lnTo>
                  <a:pt x="0" y="4842554"/>
                </a:lnTo>
                <a:lnTo>
                  <a:pt x="0" y="0"/>
                </a:lnTo>
                <a:close/>
              </a:path>
            </a:pathLst>
          </a:custGeom>
          <a:blipFill>
            <a:blip r:embed="rId4"/>
            <a:stretch>
              <a:fillRect l="-4513" t="0" r="-4513" b="0"/>
            </a:stretch>
          </a:blipFill>
        </p:spPr>
      </p:sp>
      <p:sp>
        <p:nvSpPr>
          <p:cNvPr name="TextBox 5" id="5"/>
          <p:cNvSpPr txBox="true"/>
          <p:nvPr/>
        </p:nvSpPr>
        <p:spPr>
          <a:xfrm rot="0">
            <a:off x="1028700" y="1009650"/>
            <a:ext cx="16230600" cy="990600"/>
          </a:xfrm>
          <a:prstGeom prst="rect">
            <a:avLst/>
          </a:prstGeom>
        </p:spPr>
        <p:txBody>
          <a:bodyPr anchor="t" rtlCol="false" tIns="0" lIns="0" bIns="0" rIns="0">
            <a:spAutoFit/>
          </a:bodyPr>
          <a:lstStyle/>
          <a:p>
            <a:pPr algn="l" marL="0" indent="0" lvl="0">
              <a:lnSpc>
                <a:spcPts val="7680"/>
              </a:lnSpc>
              <a:spcBef>
                <a:spcPct val="0"/>
              </a:spcBef>
            </a:pPr>
            <a:r>
              <a:rPr lang="en-US" sz="6400">
                <a:solidFill>
                  <a:srgbClr val="000000"/>
                </a:solidFill>
                <a:latin typeface="Lovelo"/>
                <a:ea typeface="Lovelo"/>
                <a:cs typeface="Lovelo"/>
                <a:sym typeface="Lovelo"/>
              </a:rPr>
              <a:t>Benchmarking Plots</a:t>
            </a:r>
          </a:p>
        </p:txBody>
      </p:sp>
      <p:sp>
        <p:nvSpPr>
          <p:cNvPr name="TextBox 6" id="6"/>
          <p:cNvSpPr txBox="true"/>
          <p:nvPr/>
        </p:nvSpPr>
        <p:spPr>
          <a:xfrm rot="0">
            <a:off x="10217158" y="8239647"/>
            <a:ext cx="7195166" cy="512315"/>
          </a:xfrm>
          <a:prstGeom prst="rect">
            <a:avLst/>
          </a:prstGeom>
        </p:spPr>
        <p:txBody>
          <a:bodyPr anchor="t" rtlCol="false" tIns="0" lIns="0" bIns="0" rIns="0">
            <a:spAutoFit/>
          </a:bodyPr>
          <a:lstStyle/>
          <a:p>
            <a:pPr algn="ctr" marL="0" indent="0" lvl="0">
              <a:lnSpc>
                <a:spcPts val="4108"/>
              </a:lnSpc>
              <a:spcBef>
                <a:spcPct val="0"/>
              </a:spcBef>
            </a:pPr>
            <a:r>
              <a:rPr lang="en-US" b="true" sz="3160">
                <a:solidFill>
                  <a:srgbClr val="000000"/>
                </a:solidFill>
                <a:latin typeface="Public Sans Bold"/>
                <a:ea typeface="Public Sans Bold"/>
                <a:cs typeface="Public Sans Bold"/>
                <a:sym typeface="Public Sans Bold"/>
              </a:rPr>
              <a:t>Throughput vs No. of Master Servers</a:t>
            </a:r>
          </a:p>
        </p:txBody>
      </p:sp>
      <p:sp>
        <p:nvSpPr>
          <p:cNvPr name="TextBox 7" id="7"/>
          <p:cNvSpPr txBox="true"/>
          <p:nvPr/>
        </p:nvSpPr>
        <p:spPr>
          <a:xfrm rot="0">
            <a:off x="1287579" y="8334132"/>
            <a:ext cx="7195166" cy="512315"/>
          </a:xfrm>
          <a:prstGeom prst="rect">
            <a:avLst/>
          </a:prstGeom>
        </p:spPr>
        <p:txBody>
          <a:bodyPr anchor="t" rtlCol="false" tIns="0" lIns="0" bIns="0" rIns="0">
            <a:spAutoFit/>
          </a:bodyPr>
          <a:lstStyle/>
          <a:p>
            <a:pPr algn="ctr" marL="0" indent="0" lvl="0">
              <a:lnSpc>
                <a:spcPts val="4108"/>
              </a:lnSpc>
              <a:spcBef>
                <a:spcPct val="0"/>
              </a:spcBef>
            </a:pPr>
            <a:r>
              <a:rPr lang="en-US" b="true" sz="3160">
                <a:solidFill>
                  <a:srgbClr val="000000"/>
                </a:solidFill>
                <a:latin typeface="Public Sans Bold"/>
                <a:ea typeface="Public Sans Bold"/>
                <a:cs typeface="Public Sans Bold"/>
                <a:sym typeface="Public Sans Bold"/>
              </a:rPr>
              <a:t>Throughput vs No. of Chunk Servers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8E6E3"/>
        </a:solidFill>
      </p:bgPr>
    </p:bg>
    <p:spTree>
      <p:nvGrpSpPr>
        <p:cNvPr id="1" name=""/>
        <p:cNvGrpSpPr/>
        <p:nvPr/>
      </p:nvGrpSpPr>
      <p:grpSpPr>
        <a:xfrm>
          <a:off x="0" y="0"/>
          <a:ext cx="0" cy="0"/>
          <a:chOff x="0" y="0"/>
          <a:chExt cx="0" cy="0"/>
        </a:xfrm>
      </p:grpSpPr>
      <p:sp>
        <p:nvSpPr>
          <p:cNvPr name="TextBox 2" id="2"/>
          <p:cNvSpPr txBox="true"/>
          <p:nvPr/>
        </p:nvSpPr>
        <p:spPr>
          <a:xfrm rot="0">
            <a:off x="2870204" y="4045453"/>
            <a:ext cx="12547592" cy="1600200"/>
          </a:xfrm>
          <a:prstGeom prst="rect">
            <a:avLst/>
          </a:prstGeom>
        </p:spPr>
        <p:txBody>
          <a:bodyPr anchor="t" rtlCol="false" tIns="0" lIns="0" bIns="0" rIns="0">
            <a:spAutoFit/>
          </a:bodyPr>
          <a:lstStyle/>
          <a:p>
            <a:pPr algn="ctr">
              <a:lnSpc>
                <a:spcPts val="12000"/>
              </a:lnSpc>
            </a:pPr>
            <a:r>
              <a:rPr lang="en-US" sz="12000" spc="-480">
                <a:solidFill>
                  <a:srgbClr val="36211B"/>
                </a:solidFill>
                <a:latin typeface="Fraunces Light"/>
                <a:ea typeface="Fraunces Light"/>
                <a:cs typeface="Fraunces Light"/>
                <a:sym typeface="Fraunces Light"/>
              </a:rPr>
              <a:t>THANK YOU </a:t>
            </a:r>
          </a:p>
        </p:txBody>
      </p:sp>
      <p:sp>
        <p:nvSpPr>
          <p:cNvPr name="TextBox 3" id="3"/>
          <p:cNvSpPr txBox="true"/>
          <p:nvPr/>
        </p:nvSpPr>
        <p:spPr>
          <a:xfrm rot="0">
            <a:off x="3662490" y="5856737"/>
            <a:ext cx="10963021" cy="613410"/>
          </a:xfrm>
          <a:prstGeom prst="rect">
            <a:avLst/>
          </a:prstGeom>
        </p:spPr>
        <p:txBody>
          <a:bodyPr anchor="t" rtlCol="false" tIns="0" lIns="0" bIns="0" rIns="0">
            <a:spAutoFit/>
          </a:bodyPr>
          <a:lstStyle/>
          <a:p>
            <a:pPr algn="ctr">
              <a:lnSpc>
                <a:spcPts val="5040"/>
              </a:lnSpc>
            </a:pPr>
            <a:r>
              <a:rPr lang="en-US" sz="3600" i="true" spc="-144">
                <a:solidFill>
                  <a:srgbClr val="36211B"/>
                </a:solidFill>
                <a:latin typeface="Fraunces Light Italics"/>
                <a:ea typeface="Fraunces Light Italics"/>
                <a:cs typeface="Fraunces Light Italics"/>
                <a:sym typeface="Fraunces Light Italics"/>
              </a:rPr>
              <a:t>For Listening</a:t>
            </a:r>
          </a:p>
        </p:txBody>
      </p:sp>
      <p:sp>
        <p:nvSpPr>
          <p:cNvPr name="Freeform 4" id="4"/>
          <p:cNvSpPr/>
          <p:nvPr/>
        </p:nvSpPr>
        <p:spPr>
          <a:xfrm flipH="false" flipV="false" rot="0">
            <a:off x="0" y="9910777"/>
            <a:ext cx="18288000" cy="376223"/>
          </a:xfrm>
          <a:custGeom>
            <a:avLst/>
            <a:gdLst/>
            <a:ahLst/>
            <a:cxnLst/>
            <a:rect r="r" b="b" t="t" l="l"/>
            <a:pathLst>
              <a:path h="376223" w="18288000">
                <a:moveTo>
                  <a:pt x="0" y="0"/>
                </a:moveTo>
                <a:lnTo>
                  <a:pt x="18288000" y="0"/>
                </a:lnTo>
                <a:lnTo>
                  <a:pt x="18288000" y="376223"/>
                </a:lnTo>
                <a:lnTo>
                  <a:pt x="0" y="376223"/>
                </a:lnTo>
                <a:lnTo>
                  <a:pt x="0" y="0"/>
                </a:lnTo>
                <a:close/>
              </a:path>
            </a:pathLst>
          </a:custGeom>
          <a:blipFill>
            <a:blip r:embed="rId2"/>
            <a:stretch>
              <a:fillRect l="0" t="-1531929" r="0" b="-1102351"/>
            </a:stretch>
          </a:blipFill>
        </p:spPr>
      </p:sp>
      <p:sp>
        <p:nvSpPr>
          <p:cNvPr name="TextBox 5" id="5"/>
          <p:cNvSpPr txBox="true"/>
          <p:nvPr/>
        </p:nvSpPr>
        <p:spPr>
          <a:xfrm rot="0">
            <a:off x="13863428" y="767715"/>
            <a:ext cx="3750600" cy="464820"/>
          </a:xfrm>
          <a:prstGeom prst="rect">
            <a:avLst/>
          </a:prstGeom>
        </p:spPr>
        <p:txBody>
          <a:bodyPr anchor="t" rtlCol="false" tIns="0" lIns="0" bIns="0" rIns="0">
            <a:spAutoFit/>
          </a:bodyPr>
          <a:lstStyle/>
          <a:p>
            <a:pPr algn="l">
              <a:lnSpc>
                <a:spcPts val="3779"/>
              </a:lnSpc>
            </a:pPr>
            <a:r>
              <a:rPr lang="en-US" sz="2699" spc="-53" b="true">
                <a:solidFill>
                  <a:srgbClr val="36211B"/>
                </a:solidFill>
                <a:latin typeface="Public Sans Medium"/>
                <a:ea typeface="Public Sans Medium"/>
                <a:cs typeface="Public Sans Medium"/>
                <a:sym typeface="Public Sans Medium"/>
              </a:rPr>
              <a:t>28th Novemeber,2024</a:t>
            </a:r>
          </a:p>
        </p:txBody>
      </p:sp>
      <p:sp>
        <p:nvSpPr>
          <p:cNvPr name="TextBox 6" id="6"/>
          <p:cNvSpPr txBox="true"/>
          <p:nvPr/>
        </p:nvSpPr>
        <p:spPr>
          <a:xfrm rot="0">
            <a:off x="1028700" y="792480"/>
            <a:ext cx="2547610" cy="464820"/>
          </a:xfrm>
          <a:prstGeom prst="rect">
            <a:avLst/>
          </a:prstGeom>
        </p:spPr>
        <p:txBody>
          <a:bodyPr anchor="t" rtlCol="false" tIns="0" lIns="0" bIns="0" rIns="0">
            <a:spAutoFit/>
          </a:bodyPr>
          <a:lstStyle/>
          <a:p>
            <a:pPr algn="l">
              <a:lnSpc>
                <a:spcPts val="3779"/>
              </a:lnSpc>
            </a:pPr>
            <a:r>
              <a:rPr lang="en-US" sz="2699" spc="-53" b="true">
                <a:solidFill>
                  <a:srgbClr val="36211B"/>
                </a:solidFill>
                <a:latin typeface="Public Sans Medium"/>
                <a:ea typeface="Public Sans Medium"/>
                <a:cs typeface="Public Sans Medium"/>
                <a:sym typeface="Public Sans Medium"/>
              </a:rPr>
              <a:t>DS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DAGXY7aNqDw</dc:identifier>
  <dcterms:modified xsi:type="dcterms:W3CDTF">2011-08-01T06:04:30Z</dcterms:modified>
  <cp:revision>1</cp:revision>
  <dc:title>Beige Green Simple Minimalist Social Media Marketing Project Presentation</dc:title>
</cp:coreProperties>
</file>